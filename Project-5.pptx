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360" r:id="rId3"/>
    <p:sldId id="366" r:id="rId4"/>
    <p:sldId id="330" r:id="rId5"/>
    <p:sldId id="356" r:id="rId6"/>
    <p:sldId id="357" r:id="rId7"/>
    <p:sldId id="359" r:id="rId8"/>
    <p:sldId id="367" r:id="rId9"/>
    <p:sldId id="341" r:id="rId10"/>
    <p:sldId id="355" r:id="rId11"/>
    <p:sldId id="362" r:id="rId12"/>
    <p:sldId id="363" r:id="rId13"/>
    <p:sldId id="358" r:id="rId14"/>
    <p:sldId id="364" r:id="rId15"/>
    <p:sldId id="365" r:id="rId16"/>
    <p:sldId id="334" r:id="rId17"/>
    <p:sldId id="361" r:id="rId18"/>
    <p:sldId id="368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без заголовка" id="{22E44308-D50A-4741-99CD-2151C372637E}">
          <p14:sldIdLst>
            <p14:sldId id="257"/>
            <p14:sldId id="360"/>
            <p14:sldId id="366"/>
            <p14:sldId id="330"/>
            <p14:sldId id="356"/>
            <p14:sldId id="357"/>
            <p14:sldId id="359"/>
            <p14:sldId id="367"/>
            <p14:sldId id="341"/>
            <p14:sldId id="355"/>
            <p14:sldId id="362"/>
            <p14:sldId id="363"/>
            <p14:sldId id="358"/>
            <p14:sldId id="364"/>
            <p14:sldId id="365"/>
            <p14:sldId id="334"/>
            <p14:sldId id="361"/>
            <p14:sldId id="3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92" autoAdjust="0"/>
    <p:restoredTop sz="94660"/>
  </p:normalViewPr>
  <p:slideViewPr>
    <p:cSldViewPr snapToGrid="0">
      <p:cViewPr varScale="1">
        <p:scale>
          <a:sx n="80" d="100"/>
          <a:sy n="80" d="100"/>
        </p:scale>
        <p:origin x="30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83983D-D0B4-4253-AB54-21389B790EB9}" type="datetimeFigureOut">
              <a:rPr lang="ru-RU" smtClean="0"/>
              <a:t>23.01.2025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5DE438-A7C4-43A4-9239-38704E930F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0878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17749-EB48-44BD-8743-F3D5F5C7706A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363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DE438-A7C4-43A4-9239-38704E930F8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1688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DE438-A7C4-43A4-9239-38704E930F8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71592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DE438-A7C4-43A4-9239-38704E930F8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377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DE438-A7C4-43A4-9239-38704E930F8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3099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DE438-A7C4-43A4-9239-38704E930F8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38509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DE438-A7C4-43A4-9239-38704E930F8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77080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DE438-A7C4-43A4-9239-38704E930F8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2552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DE438-A7C4-43A4-9239-38704E930F8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15900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DE438-A7C4-43A4-9239-38704E930F8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5785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DE438-A7C4-43A4-9239-38704E930F8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27428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DE438-A7C4-43A4-9239-38704E930F8F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61444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DE438-A7C4-43A4-9239-38704E930F8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78966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DE438-A7C4-43A4-9239-38704E930F8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05680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DE438-A7C4-43A4-9239-38704E930F8F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949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DE438-A7C4-43A4-9239-38704E930F8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6835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189E68-2B41-4D7C-A97C-07E278C136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2682627-4019-495D-91B2-B406684507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0E61FE-45F8-4BB4-B411-B94718F63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2773C-469F-465F-A081-51669717A18B}" type="datetimeFigureOut">
              <a:rPr lang="ru-RU" smtClean="0"/>
              <a:t>23.01.2025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D062F9-33BE-4FDC-BBFC-5B13F14C7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083A16-D38F-42DF-A1C6-6DAF199CD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DBD8-040C-49A0-9293-E0F6A19C90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555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699C07-B472-4558-9391-F56B04A4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E30A63-278E-42DD-939F-4D6BEB9BF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F7F295-AEBD-4F20-87B4-2F9DA113A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2773C-469F-465F-A081-51669717A18B}" type="datetimeFigureOut">
              <a:rPr lang="ru-RU" smtClean="0"/>
              <a:t>23.01.2025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E09694-59C9-4802-AA0D-D35C347EC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3E0BDD0-46EF-4B91-A76D-EBA786479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DBD8-040C-49A0-9293-E0F6A19C90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7658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037FD1-B50E-42E1-A320-6DB23F82E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E8A350B-5F22-43E9-89BF-25AE2E6DB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924303-C3FA-4341-92A3-51EBF2172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2773C-469F-465F-A081-51669717A18B}" type="datetimeFigureOut">
              <a:rPr lang="ru-RU" smtClean="0"/>
              <a:t>23.01.2025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C99980-5E32-4578-886B-F08286912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90D78E-1681-4A7D-BC65-11209D603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DBD8-040C-49A0-9293-E0F6A19C90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7664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070C4E-C472-4B59-8B25-D4F453C2A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FB774D-4403-48A4-B3E3-A3F8858F26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5EEFA0B-AF88-4C85-8B6C-11962910D4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48BA949-3624-46B5-A5C6-FC0C3FC85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2773C-469F-465F-A081-51669717A18B}" type="datetimeFigureOut">
              <a:rPr lang="ru-RU" smtClean="0"/>
              <a:t>23.01.2025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8B36495-A269-4F7C-9C8A-BAE247504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924059-D46D-4567-918C-6F8BCB540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DBD8-040C-49A0-9293-E0F6A19C90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8041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C5AB73-4D38-4CAE-A9C9-0A1C21A17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BB8A304-6DF8-4E04-A426-07DC2FB06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A321986-DFB4-42B1-A274-93F8A96FE8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3BB08B9-048E-4CF7-A28E-460C2A1492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B5D2664-EE18-4604-80CC-70D93F4C77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390F381-BE82-4C3C-8B2F-BE7B1DF55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2773C-469F-465F-A081-51669717A18B}" type="datetimeFigureOut">
              <a:rPr lang="ru-RU" smtClean="0"/>
              <a:t>23.01.2025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74DE84C-93B4-44A1-BF32-B0389B4AB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935A2F7-9F02-45FD-9EC5-B16244FAB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DBD8-040C-49A0-9293-E0F6A19C90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047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190839-C185-4D98-91B0-AFED7CEC0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11AB7C5-D400-40B7-A3C2-35F01335E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2773C-469F-465F-A081-51669717A18B}" type="datetimeFigureOut">
              <a:rPr lang="ru-RU" smtClean="0"/>
              <a:t>23.01.2025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30DDE88-4EAA-4BA3-B5CD-0978E0068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0E96DC2-5C84-4F43-AFD5-D9629772D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DBD8-040C-49A0-9293-E0F6A19C90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0664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DCEDFB9-D006-4F45-880E-570F60988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2773C-469F-465F-A081-51669717A18B}" type="datetimeFigureOut">
              <a:rPr lang="ru-RU" smtClean="0"/>
              <a:t>23.01.2025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C9685FD-68DE-4672-A958-B96755204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740A2F2-88BD-4E91-92A7-2D1E48661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DBD8-040C-49A0-9293-E0F6A19C90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6637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691F3D-CBF9-46A3-ADB8-BED5D5397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A0351C-0DEA-40D3-8FFA-8C7F9E762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F8181D2-45F8-4FA5-9323-B2B2DB6FB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F0D8999-F32F-4C5A-B9EA-063057F52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2773C-469F-465F-A081-51669717A18B}" type="datetimeFigureOut">
              <a:rPr lang="ru-RU" smtClean="0"/>
              <a:t>23.01.2025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410A22A-5017-4036-B453-30F419A44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18E48C3-C1D3-48AC-AB61-F565AB4CB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DBD8-040C-49A0-9293-E0F6A19C90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4996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A5C551-F84E-4B09-84F1-0915AAE69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8AB8F25-F95C-4A80-8E37-835838073C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53A235F-BD2C-46B0-8AE2-6F9FAC888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C55C754-8441-4B15-B454-56A891B33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2773C-469F-465F-A081-51669717A18B}" type="datetimeFigureOut">
              <a:rPr lang="ru-RU" smtClean="0"/>
              <a:t>23.01.2025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302A99B-63AD-42D2-97BE-1BE0318E4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71B561F-8DAA-40B8-A6DB-257337B15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DBD8-040C-49A0-9293-E0F6A19C90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0846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B1165-39E0-44FB-A4C7-BF6A38508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62C4C6F-55A0-4F4B-B80F-936830B1C2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34DB78-E8E4-4528-A949-50A3E7993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2773C-469F-465F-A081-51669717A18B}" type="datetimeFigureOut">
              <a:rPr lang="ru-RU" smtClean="0"/>
              <a:t>23.01.2025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BCD81D-57A9-4028-BE2E-935EE21ED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AA4C72-2937-4FBC-A5AF-6C536D0AE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DBD8-040C-49A0-9293-E0F6A19C90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4171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1A3FA80-79D0-4337-84BE-C2F08CF329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824D852-6C74-4E98-959B-125BD2DE0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CC793C-8AD3-44C0-9D13-51EDB36F3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2773C-469F-465F-A081-51669717A18B}" type="datetimeFigureOut">
              <a:rPr lang="ru-RU" smtClean="0"/>
              <a:t>23.01.2025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D2D4BA-7BF5-46B7-9AF9-1CF9E6F7D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88A29C-8343-45DB-B480-EAAF4B08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DBD8-040C-49A0-9293-E0F6A19C90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4072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34E775-FECE-4059-A6A5-F55B62A9B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92E73D-7F48-4695-A327-962B0C010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EC26D3-3F3E-4B08-B0D9-CCF1ABA972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62773C-469F-465F-A081-51669717A18B}" type="datetimeFigureOut">
              <a:rPr lang="ru-RU" smtClean="0"/>
              <a:t>23.01.2025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B6E89E-EEE7-4ACA-9243-2DCB2362CB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2FEAF4-BFCE-439E-9978-B686524EE7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1DBD8-040C-49A0-9293-E0F6A19C90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695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13" Type="http://schemas.openxmlformats.org/officeDocument/2006/relationships/image" Target="../media/image32.png"/><Relationship Id="rId3" Type="http://schemas.openxmlformats.org/officeDocument/2006/relationships/image" Target="../media/image23.jpg"/><Relationship Id="rId7" Type="http://schemas.openxmlformats.org/officeDocument/2006/relationships/image" Target="../media/image260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24.jp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903116-C776-400F-94D4-56C7399BA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4816" y="555904"/>
            <a:ext cx="9144000" cy="1612466"/>
          </a:xfrm>
        </p:spPr>
        <p:txBody>
          <a:bodyPr>
            <a:normAutofit fontScale="90000"/>
          </a:bodyPr>
          <a:lstStyle/>
          <a:p>
            <a:br>
              <a:rPr lang="en-US" sz="5300" b="1" dirty="0"/>
            </a:br>
            <a:br>
              <a:rPr lang="ru-RU" dirty="0"/>
            </a:br>
            <a:endParaRPr lang="ru-RU" sz="2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B7128F0-C5A8-4ACA-BA5A-756BBD5798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5991" y="5584019"/>
            <a:ext cx="8920017" cy="2179081"/>
          </a:xfrm>
        </p:spPr>
        <p:txBody>
          <a:bodyPr>
            <a:normAutofit/>
          </a:bodyPr>
          <a:lstStyle/>
          <a:p>
            <a:pPr algn="l"/>
            <a:r>
              <a:rPr lang="ru-RU" sz="2000" b="1" dirty="0"/>
              <a:t>Работу выполнили</a:t>
            </a:r>
            <a:r>
              <a:rPr lang="en-US" sz="2000" b="1" dirty="0"/>
              <a:t>:</a:t>
            </a:r>
            <a:r>
              <a:rPr lang="ru-RU" sz="2000" b="1" dirty="0"/>
              <a:t> </a:t>
            </a:r>
            <a:r>
              <a:rPr lang="ru-RU" sz="2000" dirty="0"/>
              <a:t>Вострокнутов Тимур Б02-209, Болдинский Дмитрий Б03-201</a:t>
            </a:r>
          </a:p>
          <a:p>
            <a:pPr algn="l"/>
            <a:r>
              <a:rPr lang="ru-RU" sz="2000" b="1" dirty="0"/>
              <a:t>Руководитель</a:t>
            </a:r>
            <a:r>
              <a:rPr lang="en-US" sz="2000" b="1" dirty="0"/>
              <a:t>: </a:t>
            </a:r>
            <a:r>
              <a:rPr lang="ru-RU" sz="2000" dirty="0"/>
              <a:t>Жабин Сергей Николаевич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31438D79-43D9-48E4-9DAA-614AADFD0287}"/>
              </a:ext>
            </a:extLst>
          </p:cNvPr>
          <p:cNvSpPr txBox="1">
            <a:spLocks/>
          </p:cNvSpPr>
          <p:nvPr/>
        </p:nvSpPr>
        <p:spPr>
          <a:xfrm>
            <a:off x="536848" y="1143560"/>
            <a:ext cx="6157908" cy="5403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/>
              <a:t>Тонкое расщепление в атомных термах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931832C-4C31-427A-8D73-CF5564E1CE17}"/>
              </a:ext>
            </a:extLst>
          </p:cNvPr>
          <p:cNvSpPr/>
          <p:nvPr/>
        </p:nvSpPr>
        <p:spPr>
          <a:xfrm>
            <a:off x="388667" y="1216652"/>
            <a:ext cx="64542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ru-RU" sz="2800" b="1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A7FC928-2D84-43D0-9EAE-9B8C3B710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882" y="47525"/>
            <a:ext cx="1366222" cy="1366222"/>
          </a:xfrm>
          <a:prstGeom prst="rect">
            <a:avLst/>
          </a:prstGeom>
        </p:spPr>
      </p:pic>
      <p:sp>
        <p:nvSpPr>
          <p:cNvPr id="12" name="Объект 2">
            <a:extLst>
              <a:ext uri="{FF2B5EF4-FFF2-40B4-BE49-F238E27FC236}">
                <a16:creationId xmlns:a16="http://schemas.microsoft.com/office/drawing/2014/main" id="{2B637881-84B4-4F53-9DFD-AFE11395C93E}"/>
              </a:ext>
            </a:extLst>
          </p:cNvPr>
          <p:cNvSpPr txBox="1">
            <a:spLocks/>
          </p:cNvSpPr>
          <p:nvPr/>
        </p:nvSpPr>
        <p:spPr>
          <a:xfrm>
            <a:off x="7011469" y="1683934"/>
            <a:ext cx="4719544" cy="3806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3200" dirty="0"/>
              <a:t>В данной работе рассматривается модель атома Томаса-Ферми с целью уточнения величины тонкого расщепления атомных термов в сложных атомах.</a:t>
            </a: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CF7D9ACD-A480-434E-8D5B-DE59DCF9D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502" y="5490600"/>
            <a:ext cx="1279314" cy="1279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1F04088-4674-4C35-9569-85E9B66B5B68}"/>
              </a:ext>
            </a:extLst>
          </p:cNvPr>
          <p:cNvSpPr txBox="1"/>
          <p:nvPr/>
        </p:nvSpPr>
        <p:spPr>
          <a:xfrm>
            <a:off x="5065367" y="6400582"/>
            <a:ext cx="2222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/>
              <a:t>Долгопрудный 2025</a:t>
            </a:r>
            <a:endParaRPr lang="ru-RU" b="1" dirty="0"/>
          </a:p>
        </p:txBody>
      </p:sp>
      <p:pic>
        <p:nvPicPr>
          <p:cNvPr id="6" name="Picture 2" descr="Picture background">
            <a:extLst>
              <a:ext uri="{FF2B5EF4-FFF2-40B4-BE49-F238E27FC236}">
                <a16:creationId xmlns:a16="http://schemas.microsoft.com/office/drawing/2014/main" id="{31A0E405-BE25-4652-9562-53479FBA9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1882" y="5305934"/>
            <a:ext cx="1279314" cy="1279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icture background">
            <a:extLst>
              <a:ext uri="{FF2B5EF4-FFF2-40B4-BE49-F238E27FC236}">
                <a16:creationId xmlns:a16="http://schemas.microsoft.com/office/drawing/2014/main" id="{8105BBAE-146B-4523-8DBE-A113D4AAA8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83" b="24824"/>
          <a:stretch/>
        </p:blipFill>
        <p:spPr bwMode="auto">
          <a:xfrm>
            <a:off x="325502" y="89590"/>
            <a:ext cx="2283017" cy="847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Picture background">
            <a:extLst>
              <a:ext uri="{FF2B5EF4-FFF2-40B4-BE49-F238E27FC236}">
                <a16:creationId xmlns:a16="http://schemas.microsoft.com/office/drawing/2014/main" id="{C88EF9F1-9ADA-42F0-BEB8-AE013B023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635" y="1812964"/>
            <a:ext cx="4964656" cy="3437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1280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000CF5-EE65-4867-B2A6-79D3A6B05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b="1" dirty="0"/>
              <a:t>Тонкая структура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C1BD98-187C-47DC-BA68-47D98D630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20131"/>
            <a:ext cx="4810126" cy="22177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YS Text"/>
              </a:rPr>
              <a:t>Качественное объяснение</a:t>
            </a:r>
            <a:r>
              <a:rPr lang="en-US" sz="2400" dirty="0">
                <a:latin typeface="YS Text"/>
              </a:rPr>
              <a:t>: </a:t>
            </a:r>
            <a:r>
              <a:rPr lang="ru-RU" sz="2400" b="1" dirty="0">
                <a:latin typeface="YS Text"/>
              </a:rPr>
              <a:t>собственный</a:t>
            </a:r>
            <a:r>
              <a:rPr lang="ru-RU" sz="2400" dirty="0">
                <a:latin typeface="YS Text"/>
              </a:rPr>
              <a:t> магнитный момент электрона (спин) взаимодействует с магнитным моментом, появляющимся из-за движения электрона (</a:t>
            </a:r>
            <a:r>
              <a:rPr lang="en-US" sz="2400" dirty="0">
                <a:latin typeface="YS Text"/>
              </a:rPr>
              <a:t>“</a:t>
            </a:r>
            <a:r>
              <a:rPr lang="ru-RU" sz="2400" dirty="0">
                <a:latin typeface="YS Text"/>
              </a:rPr>
              <a:t>виток с током</a:t>
            </a:r>
            <a:r>
              <a:rPr lang="en-US" sz="2400" dirty="0">
                <a:latin typeface="YS Text"/>
              </a:rPr>
              <a:t>”)</a:t>
            </a:r>
            <a:endParaRPr lang="ru-RU" sz="2400" dirty="0">
              <a:latin typeface="YS Text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CEB500D-F3F1-4105-8717-3988CEA7B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ADF5-9450-4D4F-A358-25896FFD9952}" type="slidenum">
              <a:rPr lang="ru-RU" sz="2000" b="1" smtClean="0">
                <a:solidFill>
                  <a:schemeClr val="tx1"/>
                </a:solidFill>
              </a:rPr>
              <a:t>2</a:t>
            </a:fld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19" name="Нижний колонтитул 3">
            <a:extLst>
              <a:ext uri="{FF2B5EF4-FFF2-40B4-BE49-F238E27FC236}">
                <a16:creationId xmlns:a16="http://schemas.microsoft.com/office/drawing/2014/main" id="{E6E1BC4F-6D8C-4559-B717-DD01D0547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ru-RU" sz="2000" b="1" dirty="0">
                <a:solidFill>
                  <a:schemeClr val="tx1"/>
                </a:solidFill>
              </a:rPr>
              <a:t>Теория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D39EAF4-B7BB-4057-A495-24FC38FC0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499" y="1325563"/>
            <a:ext cx="5882067" cy="4351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1438AF7A-B368-453A-9BDF-14BBBB4C5650}"/>
              </a:ext>
            </a:extLst>
          </p:cNvPr>
          <p:cNvCxnSpPr>
            <a:cxnSpLocks/>
          </p:cNvCxnSpPr>
          <p:nvPr/>
        </p:nvCxnSpPr>
        <p:spPr>
          <a:xfrm>
            <a:off x="5897879" y="1424940"/>
            <a:ext cx="0" cy="28194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B730F7AC-210A-4873-B4C2-7A00DBA99221}"/>
              </a:ext>
            </a:extLst>
          </p:cNvPr>
          <p:cNvCxnSpPr>
            <a:cxnSpLocks/>
          </p:cNvCxnSpPr>
          <p:nvPr/>
        </p:nvCxnSpPr>
        <p:spPr>
          <a:xfrm>
            <a:off x="5897879" y="1798320"/>
            <a:ext cx="0" cy="28194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6465C220-2127-4BF1-9CA0-61834B222C30}"/>
              </a:ext>
            </a:extLst>
          </p:cNvPr>
          <p:cNvCxnSpPr>
            <a:cxnSpLocks/>
          </p:cNvCxnSpPr>
          <p:nvPr/>
        </p:nvCxnSpPr>
        <p:spPr>
          <a:xfrm>
            <a:off x="5966459" y="3147060"/>
            <a:ext cx="0" cy="28194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378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000CF5-EE65-4867-B2A6-79D3A6B05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b="1" dirty="0"/>
              <a:t>Атомная модель Томаса-Ферми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C1BD98-187C-47DC-BA68-47D98D630C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55725"/>
                <a:ext cx="7315200" cy="473074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1800" dirty="0"/>
                  <a:t>Сложные атомы с большим квантовым числом </a:t>
                </a:r>
                <a:r>
                  <a:rPr lang="en-US" sz="1800" dirty="0"/>
                  <a:t>n --&gt; </a:t>
                </a:r>
                <a:r>
                  <a:rPr lang="ru-RU" sz="1800" b="1" dirty="0"/>
                  <a:t>квазиклассическое приближение</a:t>
                </a:r>
              </a:p>
              <a:p>
                <a:pPr marL="0" indent="0">
                  <a:buNone/>
                </a:pPr>
                <a:r>
                  <a:rPr lang="ru-RU" sz="1800" dirty="0"/>
                  <a:t>В фазовом пространстве в выделенном объеме может находиться не более</a:t>
                </a:r>
                <a:r>
                  <a:rPr lang="en-US" sz="18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0" i="0" dirty="0" smtClean="0">
                          <a:latin typeface="Cambria Math" panose="02040503050406030204" pitchFamily="18" charset="0"/>
                        </a:rPr>
                        <m:t>dN</m:t>
                      </m:r>
                      <m:r>
                        <a:rPr lang="en-US" sz="1800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f>
                        <m:fPr>
                          <m:ctrlPr>
                            <a:rPr lang="en-US" sz="18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0" dirty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1800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1800" i="0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sz="1800" i="0" dirty="0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US" sz="1800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i="1" dirty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800" i="0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sz="1800" i="0" dirty="0">
                          <a:latin typeface="Cambria Math" panose="02040503050406030204" pitchFamily="18" charset="0"/>
                        </a:rPr>
                        <m:t>ⅆ</m:t>
                      </m:r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ru-RU" sz="1800" b="0" i="1" dirty="0" smtClean="0">
                          <a:latin typeface="Cambria Math" panose="02040503050406030204" pitchFamily="18" charset="0"/>
                        </a:rPr>
                        <m:t> электронов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ru-RU" sz="1800" b="0" i="1" dirty="0" smtClean="0">
                          <a:latin typeface="Cambria Math" panose="02040503050406030204" pitchFamily="18" charset="0"/>
                        </a:rPr>
                        <m:t>по 2 электрона на клетку)</m:t>
                      </m:r>
                    </m:oMath>
                  </m:oMathPara>
                </a14:m>
                <a:endParaRPr lang="ru-RU" sz="1800" dirty="0"/>
              </a:p>
              <a:p>
                <a:pPr marL="0" indent="0">
                  <a:buNone/>
                </a:pPr>
                <a:r>
                  <a:rPr lang="ru-RU" sz="1800" dirty="0"/>
                  <a:t>Максимальное значение </a:t>
                </a:r>
                <a:r>
                  <a:rPr lang="en-US" sz="1800" dirty="0"/>
                  <a:t>p</a:t>
                </a:r>
                <a:r>
                  <a:rPr lang="en-US" sz="1200" dirty="0"/>
                  <a:t>0</a:t>
                </a:r>
                <a:r>
                  <a:rPr lang="ru-RU" sz="1800" dirty="0"/>
                  <a:t> связано с плотностью электронов </a:t>
                </a:r>
                <a:r>
                  <a:rPr lang="en-US" sz="1800" dirty="0"/>
                  <a:t>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800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800" i="0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1800" i="0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</m:num>
                        <m:den>
                          <m:r>
                            <a:rPr lang="en-US" sz="1800" i="0" dirty="0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US" sz="1800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800" i="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ru-RU" sz="1800" dirty="0"/>
              </a:p>
              <a:p>
                <a:pPr marL="0" indent="0">
                  <a:buNone/>
                </a:pPr>
                <a:r>
                  <a:rPr lang="ru-RU" sz="1800" dirty="0"/>
                  <a:t>Также можно написать</a:t>
                </a:r>
                <a:r>
                  <a:rPr lang="en-US" sz="18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800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800" i="0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1800" i="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sz="1800" i="0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800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sz="1800" i="0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8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1800" i="0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ru-RU" sz="1800" dirty="0"/>
                  <a:t>Пусть атом нейтральный, тогда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1800" i="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1800" b="0" i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sz="1800" dirty="0"/>
                  <a:t> и с учётом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i="1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ru-RU" sz="1800" b="0" i="1" dirty="0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800" dirty="0"/>
                  <a:t> получим</a:t>
                </a:r>
                <a:r>
                  <a:rPr lang="en-US" sz="1800" dirty="0"/>
                  <a:t>:</a:t>
                </a:r>
                <a:br>
                  <a:rPr lang="en-US" sz="1800" dirty="0"/>
                </a:br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dirty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sz="1800" i="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0" dirty="0">
                              <a:latin typeface="Cambria Math" panose="02040503050406030204" pitchFamily="18" charset="0"/>
                            </a:rPr>
                            <m:t>8</m:t>
                          </m:r>
                          <m:rad>
                            <m:radPr>
                              <m:degHide m:val="on"/>
                              <m:ctrlPr>
                                <a:rPr lang="en-US" sz="1800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800" i="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n-US" sz="1800" i="0" dirty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sSup>
                        <m:sSupPr>
                          <m:ctrlPr>
                            <a:rPr lang="en-US" sz="18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p>
                          <m:f>
                            <m:fPr>
                              <m:ctrlPr>
                                <a:rPr lang="en-US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0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sz="1800" b="0" i="0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C1BD98-187C-47DC-BA68-47D98D630C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55725"/>
                <a:ext cx="7315200" cy="4730749"/>
              </a:xfrm>
              <a:blipFill>
                <a:blip r:embed="rId3"/>
                <a:stretch>
                  <a:fillRect l="-750" t="-11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CEB500D-F3F1-4105-8717-3988CEA7B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ADF5-9450-4D4F-A358-25896FFD9952}" type="slidenum">
              <a:rPr lang="ru-RU" sz="2000" b="1" smtClean="0">
                <a:solidFill>
                  <a:schemeClr val="tx1"/>
                </a:solidFill>
              </a:rPr>
              <a:t>3</a:t>
            </a:fld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24" name="Нижний колонтитул 3">
            <a:extLst>
              <a:ext uri="{FF2B5EF4-FFF2-40B4-BE49-F238E27FC236}">
                <a16:creationId xmlns:a16="http://schemas.microsoft.com/office/drawing/2014/main" id="{52A78468-F4E6-49E1-84B8-A3BC5E096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ru-RU" sz="2000" b="1" dirty="0">
                <a:solidFill>
                  <a:schemeClr val="tx1"/>
                </a:solidFill>
              </a:rPr>
              <a:t>Теория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BED240-C0C9-45DB-8C64-0D2E91910593}"/>
              </a:ext>
            </a:extLst>
          </p:cNvPr>
          <p:cNvSpPr txBox="1"/>
          <p:nvPr/>
        </p:nvSpPr>
        <p:spPr>
          <a:xfrm>
            <a:off x="8080771" y="4258749"/>
            <a:ext cx="39171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Модель </a:t>
            </a:r>
            <a:r>
              <a:rPr lang="en-US" dirty="0"/>
              <a:t>“</a:t>
            </a:r>
            <a:r>
              <a:rPr lang="ru-RU" dirty="0"/>
              <a:t> электронного облака</a:t>
            </a:r>
            <a:r>
              <a:rPr lang="en-US" dirty="0"/>
              <a:t>”</a:t>
            </a:r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7191930C-2373-4859-AF1C-73F8B42428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38" t="28571" r="31152" b="8014"/>
          <a:stretch/>
        </p:blipFill>
        <p:spPr bwMode="auto">
          <a:xfrm>
            <a:off x="8446888" y="1300879"/>
            <a:ext cx="3087887" cy="2957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8390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000CF5-EE65-4867-B2A6-79D3A6B05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b="1" dirty="0"/>
              <a:t>Решение уравнения Томаса-Ферми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C1BD98-187C-47DC-BA68-47D98D630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5726"/>
            <a:ext cx="7115175" cy="4321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YS Text"/>
              </a:rPr>
              <a:t>Уравнение Томаса-Ферми:</a:t>
            </a:r>
            <a:br>
              <a:rPr lang="ru-RU" sz="2400" dirty="0">
                <a:latin typeface="YS Text"/>
              </a:rPr>
            </a:br>
            <a:endParaRPr lang="en-US" sz="2400" dirty="0">
              <a:latin typeface="YS Text"/>
            </a:endParaRPr>
          </a:p>
          <a:p>
            <a:pPr marL="0" indent="0">
              <a:buNone/>
            </a:pPr>
            <a:endParaRPr lang="en-US" sz="2400" dirty="0">
              <a:latin typeface="YS Text"/>
            </a:endParaRPr>
          </a:p>
          <a:p>
            <a:pPr marL="0" indent="0">
              <a:buNone/>
            </a:pPr>
            <a:r>
              <a:rPr lang="ru-RU" sz="2400" dirty="0">
                <a:latin typeface="YS Text"/>
              </a:rPr>
              <a:t>Это уравнение не поддается аналитическому решению. Был произведён численный расчет по схеме:</a:t>
            </a:r>
            <a:endParaRPr lang="en-US" sz="2400" dirty="0">
              <a:latin typeface="YS Text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CEB500D-F3F1-4105-8717-3988CEA7B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ADF5-9450-4D4F-A358-25896FFD9952}" type="slidenum">
              <a:rPr lang="ru-RU" sz="2000" b="1" smtClean="0">
                <a:solidFill>
                  <a:schemeClr val="tx1"/>
                </a:solidFill>
              </a:rPr>
              <a:t>4</a:t>
            </a:fld>
            <a:endParaRPr lang="ru-RU" sz="2000" b="1" dirty="0">
              <a:solidFill>
                <a:schemeClr val="tx1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9444223-5055-4879-90ED-3D988510D4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219" t="44444" r="42187" b="40278"/>
          <a:stretch/>
        </p:blipFill>
        <p:spPr>
          <a:xfrm>
            <a:off x="3481387" y="1943332"/>
            <a:ext cx="1828800" cy="66611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FBA5393-C1AD-40B9-9D72-72C98D963BE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688" t="34722" r="40078" b="55565"/>
          <a:stretch/>
        </p:blipFill>
        <p:spPr>
          <a:xfrm>
            <a:off x="2247899" y="3628120"/>
            <a:ext cx="4295775" cy="66612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5DF9247-0899-45DA-8FD7-43C657046CE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875" t="51375" r="44843" b="38912"/>
          <a:stretch/>
        </p:blipFill>
        <p:spPr>
          <a:xfrm>
            <a:off x="2671760" y="4319450"/>
            <a:ext cx="3448051" cy="66612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C75E7A1-26B9-43C5-B98C-37C752C9FB2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688" t="65130" r="40078" b="26528"/>
          <a:stretch/>
        </p:blipFill>
        <p:spPr>
          <a:xfrm>
            <a:off x="2136578" y="5008815"/>
            <a:ext cx="4295775" cy="5721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11DA3A6-FC73-46B8-A192-D0C9DA6998EB}"/>
                  </a:ext>
                </a:extLst>
              </p:cNvPr>
              <p:cNvSpPr txBox="1"/>
              <p:nvPr/>
            </p:nvSpPr>
            <p:spPr>
              <a:xfrm>
                <a:off x="7907535" y="4703130"/>
                <a:ext cx="39171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800" b="0" dirty="0"/>
                  <a:t>Численное решение для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𝜒</m:t>
                    </m:r>
                    <m:d>
                      <m:dPr>
                        <m:ctrlPr>
                          <a:rPr lang="en-US" sz="1800" b="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11DA3A6-FC73-46B8-A192-D0C9DA6998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535" y="4703130"/>
                <a:ext cx="3917157" cy="369332"/>
              </a:xfrm>
              <a:prstGeom prst="rect">
                <a:avLst/>
              </a:prstGeom>
              <a:blipFill>
                <a:blip r:embed="rId5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Нижний колонтитул 3">
            <a:extLst>
              <a:ext uri="{FF2B5EF4-FFF2-40B4-BE49-F238E27FC236}">
                <a16:creationId xmlns:a16="http://schemas.microsoft.com/office/drawing/2014/main" id="{52A78468-F4E6-49E1-84B8-A3BC5E096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ru-RU" sz="2000" b="1" dirty="0">
                <a:solidFill>
                  <a:schemeClr val="tx1"/>
                </a:solidFill>
              </a:rPr>
              <a:t>Теория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6007A77E-C2C4-4090-BE3D-A68156E2BEC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7"/>
          <a:stretch/>
        </p:blipFill>
        <p:spPr>
          <a:xfrm>
            <a:off x="7718227" y="1355726"/>
            <a:ext cx="4295775" cy="3369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468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000CF5-EE65-4867-B2A6-79D3A6B05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687050" cy="1325563"/>
          </a:xfrm>
        </p:spPr>
        <p:txBody>
          <a:bodyPr>
            <a:normAutofit/>
          </a:bodyPr>
          <a:lstStyle/>
          <a:p>
            <a:r>
              <a:rPr lang="ru-RU" sz="4000" b="1" dirty="0"/>
              <a:t>Гамильтониан частицы в электромагнитном поле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C1BD98-187C-47DC-BA68-47D98D630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55726"/>
            <a:ext cx="10687050" cy="48736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Уравнение Дирака для частицы в электромагнитном поле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Рассматривая нерелятивистский предел уравнения, можно выразить Гамильтониан</a:t>
            </a:r>
            <a:r>
              <a:rPr lang="en-US" dirty="0"/>
              <a:t> (</a:t>
            </a:r>
            <a:r>
              <a:rPr lang="ru-RU" dirty="0"/>
              <a:t>см. Белоусов с. 261)</a:t>
            </a:r>
            <a:r>
              <a:rPr lang="en-US" dirty="0"/>
              <a:t>: 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r>
              <a:rPr lang="ru-RU" b="1" dirty="0"/>
              <a:t>Такой же результат можно получить в классической физике, решая задачу </a:t>
            </a:r>
            <a:r>
              <a:rPr lang="en-US" b="1" dirty="0"/>
              <a:t>“</a:t>
            </a:r>
            <a:r>
              <a:rPr lang="ru-RU" b="1" dirty="0"/>
              <a:t>прецессию Томаса</a:t>
            </a:r>
            <a:r>
              <a:rPr lang="en-US" b="1" dirty="0"/>
              <a:t>”</a:t>
            </a:r>
            <a:r>
              <a:rPr lang="ru-RU" b="1" dirty="0"/>
              <a:t>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CEB500D-F3F1-4105-8717-3988CEA7B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ADF5-9450-4D4F-A358-25896FFD9952}" type="slidenum">
              <a:rPr lang="ru-RU" sz="2000" b="1" smtClean="0">
                <a:solidFill>
                  <a:schemeClr val="tx1"/>
                </a:solidFill>
              </a:rPr>
              <a:t>5</a:t>
            </a:fld>
            <a:endParaRPr lang="ru-RU" sz="2000" b="1" dirty="0">
              <a:solidFill>
                <a:schemeClr val="tx1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B9A560B-6FA1-4BDB-B67F-ED587785F2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172" t="58750" r="36875" b="30694"/>
          <a:stretch/>
        </p:blipFill>
        <p:spPr>
          <a:xfrm>
            <a:off x="3531447" y="1887388"/>
            <a:ext cx="5310512" cy="85327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C7054E9-8997-4AAA-83A9-6D25976FC49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423" t="30000" r="38905" b="62091"/>
          <a:stretch/>
        </p:blipFill>
        <p:spPr>
          <a:xfrm>
            <a:off x="2467840" y="3865882"/>
            <a:ext cx="5961785" cy="6858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F77F16B-A6F9-4C38-AFB3-B820DBF3266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979" t="37909" r="38905" b="53194"/>
          <a:stretch/>
        </p:blipFill>
        <p:spPr>
          <a:xfrm>
            <a:off x="4728590" y="3865882"/>
            <a:ext cx="5664870" cy="743796"/>
          </a:xfrm>
          <a:prstGeom prst="rect">
            <a:avLst/>
          </a:prstGeom>
        </p:spPr>
      </p:pic>
      <p:sp>
        <p:nvSpPr>
          <p:cNvPr id="44" name="Нижний колонтитул 3">
            <a:extLst>
              <a:ext uri="{FF2B5EF4-FFF2-40B4-BE49-F238E27FC236}">
                <a16:creationId xmlns:a16="http://schemas.microsoft.com/office/drawing/2014/main" id="{A170EA84-6272-4F93-A622-49BA59B04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ru-RU" sz="2000" b="1" dirty="0">
                <a:solidFill>
                  <a:schemeClr val="tx1"/>
                </a:solidFill>
              </a:rPr>
              <a:t>Теория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6230EDB9-10DF-4F28-AF34-58BE241B0469}"/>
              </a:ext>
            </a:extLst>
          </p:cNvPr>
          <p:cNvCxnSpPr>
            <a:cxnSpLocks/>
          </p:cNvCxnSpPr>
          <p:nvPr/>
        </p:nvCxnSpPr>
        <p:spPr>
          <a:xfrm flipV="1">
            <a:off x="4728590" y="3865882"/>
            <a:ext cx="676275" cy="7318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F5CC225-14BA-4D3E-BA68-DD52CA544DD4}"/>
              </a:ext>
            </a:extLst>
          </p:cNvPr>
          <p:cNvSpPr txBox="1"/>
          <p:nvPr/>
        </p:nvSpPr>
        <p:spPr>
          <a:xfrm>
            <a:off x="3042235" y="4678682"/>
            <a:ext cx="40489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b="1" dirty="0"/>
              <a:t>В условиях эксперимента этой величиной по принципу соответствия можно было пренебречь</a:t>
            </a:r>
          </a:p>
        </p:txBody>
      </p:sp>
    </p:spTree>
    <p:extLst>
      <p:ext uri="{BB962C8B-B14F-4D97-AF65-F5344CB8AC3E}">
        <p14:creationId xmlns:p14="http://schemas.microsoft.com/office/powerpoint/2010/main" val="3667520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000CF5-EE65-4867-B2A6-79D3A6B05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dirty="0"/>
              <a:t>Численное квантование полученного гамильтониана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C1BD98-187C-47DC-BA68-47D98D630C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325562"/>
                <a:ext cx="10515600" cy="281753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400" dirty="0">
                    <a:latin typeface="YS Text"/>
                  </a:rPr>
                  <a:t>Решаем </a:t>
                </a:r>
                <a:r>
                  <a:rPr lang="ru-RU" sz="2400" dirty="0" err="1">
                    <a:latin typeface="YS Text"/>
                  </a:rPr>
                  <a:t>одночастичную</a:t>
                </a:r>
                <a:r>
                  <a:rPr lang="ru-RU" sz="2400" dirty="0">
                    <a:latin typeface="YS Text"/>
                  </a:rPr>
                  <a:t> задачу в эффективном поле остального заряда </a:t>
                </a:r>
                <a:r>
                  <a:rPr lang="en-US" sz="2400" dirty="0">
                    <a:latin typeface="YS Text"/>
                  </a:rPr>
                  <a:t>Z-1:</a:t>
                </a:r>
                <a:br>
                  <a:rPr lang="en-US" sz="2400" dirty="0">
                    <a:latin typeface="YS Text"/>
                  </a:rPr>
                </a:br>
                <a:endParaRPr lang="ru-RU" sz="24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240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ru-RU" sz="240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ru-RU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ru-RU" sz="240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ru-RU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sSub>
                        <m:sSubPr>
                          <m:ctrlPr>
                            <a:rPr lang="ru-RU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𝜃𝜑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:endParaRPr lang="ru-RU" sz="2400" dirty="0">
                  <a:latin typeface="YS Tex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ru-RU" sz="2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ru-RU" sz="24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40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num>
                        <m:den>
                          <m:r>
                            <a:rPr lang="ru-RU" sz="240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acc>
                        <m:accPr>
                          <m:chr m:val="̂"/>
                          <m:ctrlPr>
                            <a:rPr lang="ru-RU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ru-RU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 i="1" smtClean="0">
                          <a:latin typeface="Cambria Math" panose="02040503050406030204" pitchFamily="18" charset="0"/>
                        </a:rPr>
                        <m:t>𝐸𝑓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ru-RU" sz="2400" i="1" dirty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ru-RU" sz="2400" dirty="0">
                  <a:latin typeface="YS Text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C1BD98-187C-47DC-BA68-47D98D630C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325562"/>
                <a:ext cx="10515600" cy="2817533"/>
              </a:xfrm>
              <a:blipFill>
                <a:blip r:embed="rId3"/>
                <a:stretch>
                  <a:fillRect l="-870" t="-30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CEB500D-F3F1-4105-8717-3988CEA7B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ADF5-9450-4D4F-A358-25896FFD9952}" type="slidenum">
              <a:rPr lang="ru-RU" sz="2000" b="1" smtClean="0">
                <a:solidFill>
                  <a:schemeClr val="tx1"/>
                </a:solidFill>
              </a:rPr>
              <a:t>6</a:t>
            </a:fld>
            <a:endParaRPr lang="ru-RU" sz="20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4C3F7F0-BD9D-4889-904E-9F64BF935C8B}"/>
                  </a:ext>
                </a:extLst>
              </p:cNvPr>
              <p:cNvSpPr txBox="1"/>
              <p:nvPr/>
            </p:nvSpPr>
            <p:spPr>
              <a:xfrm>
                <a:off x="0" y="3956485"/>
                <a:ext cx="12192000" cy="6505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sz="1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1600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600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sz="16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1600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sz="1600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ru-RU" sz="1600" i="1" dirty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ru-RU" sz="1600" i="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ru-RU" sz="1600" i="0" dirty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ru-RU" sz="1600" i="1" dirty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 dirty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ru-RU" sz="1600" i="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ru-RU" sz="1600" i="0" dirty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ru-RU" sz="1600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600" i="1" dirty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d>
                                <m:dPr>
                                  <m:ctrlPr>
                                    <a:rPr lang="ru-RU" sz="1600" i="1" dirty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600" i="1" dirty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ru-RU" sz="1600" i="0" dirty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ru-RU" sz="1600" i="1" dirty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 dirty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ru-RU" sz="1600" i="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ru-RU" sz="1600" i="1" dirty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  <m:d>
                            <m:d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  <m:d>
                                <m:dPr>
                                  <m:ctrlPr>
                                    <a:rPr lang="en-US" sz="1600" b="0" i="1" dirty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ru-RU" sz="16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6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dirty="0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600" b="0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sSup>
                                    <m:sSupPr>
                                      <m:ctrlPr>
                                        <a:rPr lang="en-US" sz="16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0" i="1" dirty="0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p>
                                      <m:r>
                                        <a:rPr lang="en-US" sz="16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d>
                                    <m:dPr>
                                      <m:ctrlP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  <m: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  <m:d>
                                    <m:dPr>
                                      <m:ctrlPr>
                                        <a:rPr lang="en-US" sz="1600" i="1" dirty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ru-RU" sz="1600" i="1" dirty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sz="1600" i="1" dirty="0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p>
                                      <m:r>
                                        <a:rPr lang="en-US" sz="1600" b="0" i="0" dirty="0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d>
                                    <m:dPr>
                                      <m:ctrlPr>
                                        <a:rPr lang="en-US" sz="16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0" i="1" dirty="0" smtClean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  <m:r>
                                        <a:rPr lang="en-US" sz="1600" b="0" i="1" dirty="0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sSup>
                                    <m:sSupPr>
                                      <m:ctrlPr>
                                        <a:rPr lang="en-US" sz="16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sz="1600" i="1" dirty="0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p>
                                      <m:r>
                                        <a:rPr lang="en-US" sz="16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sSup>
                                <m:sSup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sz="16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b="0" i="1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1600" b="0" i="1" dirty="0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sup>
                              </m:sSup>
                              <m:sSubSup>
                                <m:sSubSup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600" i="1" dirty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⟨"/>
                              <m:endChr m:val="⟩"/>
                              <m:ctrlPr>
                                <a:rPr lang="en-US" sz="1600" i="1" dirty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dirty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𝑙𝑠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4C3F7F0-BD9D-4889-904E-9F64BF935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956485"/>
                <a:ext cx="12192000" cy="6505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Нижний колонтитул 3">
            <a:extLst>
              <a:ext uri="{FF2B5EF4-FFF2-40B4-BE49-F238E27FC236}">
                <a16:creationId xmlns:a16="http://schemas.microsoft.com/office/drawing/2014/main" id="{E6E1BC4F-6D8C-4559-B717-DD01D0547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ru-RU" sz="2000" b="1" dirty="0">
                <a:solidFill>
                  <a:schemeClr val="tx1"/>
                </a:solidFill>
              </a:rPr>
              <a:t>Теория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39D4B96-E2B7-4135-B2BA-03BAEE7A3B07}"/>
                  </a:ext>
                </a:extLst>
              </p:cNvPr>
              <p:cNvSpPr txBox="1"/>
              <p:nvPr/>
            </p:nvSpPr>
            <p:spPr>
              <a:xfrm>
                <a:off x="6538915" y="4811259"/>
                <a:ext cx="3114674" cy="1340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𝑙𝑠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ru-RU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num>
                                  <m:den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ru-RU" i="0" dirty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ru-RU" i="1" dirty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ru-RU" i="0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ru-RU" i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ru-RU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i="1" dirty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ru-RU" i="0" dirty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num>
                                  <m:den>
                                    <m:r>
                                      <a:rPr lang="ru-RU" i="0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f>
                                  <m:f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39D4B96-E2B7-4135-B2BA-03BAEE7A3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8915" y="4811259"/>
                <a:ext cx="3114674" cy="13408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CDFFD7-308D-4C07-A7F1-50B77A818462}"/>
                  </a:ext>
                </a:extLst>
              </p:cNvPr>
              <p:cNvSpPr txBox="1"/>
              <p:nvPr/>
            </p:nvSpPr>
            <p:spPr>
              <a:xfrm>
                <a:off x="1957386" y="5128320"/>
                <a:ext cx="4162428" cy="808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ru-RU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dirty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ru-RU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ru-RU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ru-RU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 dirty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ru-RU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ru-RU" i="1" dirty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  <m:d>
                                <m:dPr>
                                  <m:ctrlPr>
                                    <a:rPr lang="en-US" i="1" dirty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CDFFD7-308D-4C07-A7F1-50B77A8184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386" y="5128320"/>
                <a:ext cx="4162428" cy="8082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0689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40B1C2-EAD5-4053-9E5E-F07E4D0A4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-317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 dirty="0"/>
              <a:t>Численно рассчитанные радиальные волновые функции </a:t>
            </a:r>
            <a:r>
              <a:rPr lang="en-US" sz="3200" b="1" dirty="0"/>
              <a:t>f(r)</a:t>
            </a:r>
            <a:endParaRPr lang="ru-RU" sz="3200" b="1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326FDE2-7B35-4566-9662-D37D958768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25" y="1066800"/>
            <a:ext cx="5486400" cy="41148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D7074D2-DC68-4D1F-B117-BBD1851906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25" y="1250950"/>
            <a:ext cx="5336117" cy="4002088"/>
          </a:xfrm>
          <a:prstGeom prst="rect">
            <a:avLst/>
          </a:prstGeom>
        </p:spPr>
      </p:pic>
      <p:sp>
        <p:nvSpPr>
          <p:cNvPr id="14" name="Нижний колонтитул 3">
            <a:extLst>
              <a:ext uri="{FF2B5EF4-FFF2-40B4-BE49-F238E27FC236}">
                <a16:creationId xmlns:a16="http://schemas.microsoft.com/office/drawing/2014/main" id="{3A9AE2D8-64F3-4578-B307-C695C1B2F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ru-RU" sz="2000" b="1" dirty="0">
                <a:solidFill>
                  <a:schemeClr val="tx1"/>
                </a:solidFill>
              </a:rPr>
              <a:t>Теория</a:t>
            </a:r>
          </a:p>
        </p:txBody>
      </p:sp>
      <p:sp>
        <p:nvSpPr>
          <p:cNvPr id="15" name="Номер слайда 4">
            <a:extLst>
              <a:ext uri="{FF2B5EF4-FFF2-40B4-BE49-F238E27FC236}">
                <a16:creationId xmlns:a16="http://schemas.microsoft.com/office/drawing/2014/main" id="{7325027E-4929-43F7-B54E-6190A890A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0B4ADF5-9450-4D4F-A358-25896FFD9952}" type="slidenum">
              <a:rPr lang="ru-RU" sz="2000" b="1" smtClean="0">
                <a:solidFill>
                  <a:schemeClr val="tx1"/>
                </a:solidFill>
              </a:rPr>
              <a:t>7</a:t>
            </a:fld>
            <a:endParaRPr lang="ru-RU" sz="2000" b="1" dirty="0">
              <a:solidFill>
                <a:schemeClr val="tx1"/>
              </a:solidFill>
            </a:endParaRP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885606E9-C240-4696-9870-9B1472F89A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9" r="51771" b="66250"/>
          <a:stretch/>
        </p:blipFill>
        <p:spPr bwMode="auto">
          <a:xfrm>
            <a:off x="3705225" y="1495425"/>
            <a:ext cx="1879759" cy="200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Picture background">
            <a:extLst>
              <a:ext uri="{FF2B5EF4-FFF2-40B4-BE49-F238E27FC236}">
                <a16:creationId xmlns:a16="http://schemas.microsoft.com/office/drawing/2014/main" id="{3105F26F-2499-4FA0-9EB7-85CCBE5BF6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76" t="40845" r="20458" b="33000"/>
          <a:stretch/>
        </p:blipFill>
        <p:spPr bwMode="auto">
          <a:xfrm>
            <a:off x="8518684" y="1649412"/>
            <a:ext cx="2403396" cy="1552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8903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000CF5-EE65-4867-B2A6-79D3A6B05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b="1" dirty="0"/>
              <a:t>Примечание</a:t>
            </a:r>
            <a:r>
              <a:rPr lang="en-US" sz="4000" b="1" dirty="0"/>
              <a:t>: </a:t>
            </a:r>
            <a:r>
              <a:rPr lang="ru-RU" sz="4000" b="1" dirty="0"/>
              <a:t>атом водорода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C1BD98-187C-47DC-BA68-47D98D630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082" y="2089190"/>
            <a:ext cx="8077201" cy="3829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YS Text"/>
              </a:rPr>
              <a:t>Известное соотношение для энергии атома водорода с учетом спин-орбитального расщепления</a:t>
            </a:r>
            <a:r>
              <a:rPr lang="en-US" sz="2400" dirty="0">
                <a:latin typeface="YS Text"/>
              </a:rPr>
              <a:t>:</a:t>
            </a:r>
          </a:p>
          <a:p>
            <a:pPr marL="0" indent="0">
              <a:buNone/>
            </a:pPr>
            <a:endParaRPr lang="en-US" sz="2400" dirty="0">
              <a:latin typeface="YS Text"/>
            </a:endParaRPr>
          </a:p>
          <a:p>
            <a:pPr marL="0" indent="0">
              <a:buNone/>
            </a:pPr>
            <a:endParaRPr lang="en-US" sz="2400" dirty="0">
              <a:latin typeface="YS Text"/>
            </a:endParaRPr>
          </a:p>
          <a:p>
            <a:pPr marL="0" indent="0">
              <a:buNone/>
            </a:pPr>
            <a:r>
              <a:rPr lang="ru-RU" sz="2400" dirty="0">
                <a:latin typeface="YS Text"/>
              </a:rPr>
              <a:t>Методика исследования</a:t>
            </a:r>
            <a:r>
              <a:rPr lang="en-US" sz="2400" dirty="0">
                <a:latin typeface="YS Text"/>
              </a:rPr>
              <a:t>: </a:t>
            </a:r>
            <a:r>
              <a:rPr lang="ru-RU" sz="2400" dirty="0">
                <a:latin typeface="YS Text"/>
              </a:rPr>
              <a:t>сравнение </a:t>
            </a:r>
            <a:r>
              <a:rPr lang="ru-RU" sz="2400" b="1" dirty="0">
                <a:latin typeface="YS Text"/>
              </a:rPr>
              <a:t>степеней</a:t>
            </a:r>
            <a:r>
              <a:rPr lang="ru-RU" sz="2400" dirty="0">
                <a:latin typeface="YS Text"/>
              </a:rPr>
              <a:t> энергии </a:t>
            </a:r>
            <a:r>
              <a:rPr lang="en-US" sz="2400" dirty="0" err="1">
                <a:latin typeface="YS Text"/>
              </a:rPr>
              <a:t>E</a:t>
            </a:r>
            <a:r>
              <a:rPr lang="en-US" sz="1600" dirty="0" err="1">
                <a:latin typeface="YS Text"/>
              </a:rPr>
              <a:t>so</a:t>
            </a:r>
            <a:r>
              <a:rPr lang="en-US" sz="2400" dirty="0">
                <a:latin typeface="YS Text"/>
              </a:rPr>
              <a:t> </a:t>
            </a:r>
            <a:r>
              <a:rPr lang="ru-RU" sz="2400" dirty="0">
                <a:latin typeface="YS Text"/>
              </a:rPr>
              <a:t>и заряда </a:t>
            </a:r>
            <a:r>
              <a:rPr lang="en-US" sz="2400" dirty="0">
                <a:latin typeface="YS Text"/>
              </a:rPr>
              <a:t>Z</a:t>
            </a:r>
          </a:p>
          <a:p>
            <a:pPr marL="0" indent="0">
              <a:buNone/>
            </a:pPr>
            <a:endParaRPr lang="ru-RU" sz="2400" dirty="0">
              <a:latin typeface="YS Text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CEB500D-F3F1-4105-8717-3988CEA7B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ADF5-9450-4D4F-A358-25896FFD9952}" type="slidenum">
              <a:rPr lang="ru-RU" sz="2000" b="1" smtClean="0">
                <a:solidFill>
                  <a:schemeClr val="tx1"/>
                </a:solidFill>
              </a:rPr>
              <a:t>8</a:t>
            </a:fld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19" name="Нижний колонтитул 3">
            <a:extLst>
              <a:ext uri="{FF2B5EF4-FFF2-40B4-BE49-F238E27FC236}">
                <a16:creationId xmlns:a16="http://schemas.microsoft.com/office/drawing/2014/main" id="{E6E1BC4F-6D8C-4559-B717-DD01D0547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ru-RU" sz="2000" b="1" dirty="0">
                <a:solidFill>
                  <a:schemeClr val="tx1"/>
                </a:solidFill>
              </a:rPr>
              <a:t>Теория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8A6B60B-6B2A-433A-95A8-D619D2382F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750" t="64148" r="55312" b="30528"/>
          <a:stretch/>
        </p:blipFill>
        <p:spPr>
          <a:xfrm>
            <a:off x="7943850" y="4429760"/>
            <a:ext cx="1333499" cy="365125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19D7E37-1816-414C-B04E-E855478859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750" t="64148" r="55312" b="30528"/>
          <a:stretch/>
        </p:blipFill>
        <p:spPr>
          <a:xfrm>
            <a:off x="10020301" y="2651126"/>
            <a:ext cx="1333499" cy="36512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A7BD2A5-5C32-4712-9546-5B829C35FCC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686" t="58333" r="12423" b="30083"/>
          <a:stretch/>
        </p:blipFill>
        <p:spPr>
          <a:xfrm>
            <a:off x="1724331" y="2871748"/>
            <a:ext cx="6448425" cy="794385"/>
          </a:xfrm>
          <a:prstGeom prst="rect">
            <a:avLst/>
          </a:prstGeom>
        </p:spPr>
      </p:pic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ADC988F0-F6B3-45ED-944A-75BC6624EA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0" t="42256" r="63000" b="16166"/>
          <a:stretch/>
        </p:blipFill>
        <p:spPr bwMode="auto">
          <a:xfrm>
            <a:off x="9277349" y="1325562"/>
            <a:ext cx="2057345" cy="2103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Picture background">
            <a:extLst>
              <a:ext uri="{FF2B5EF4-FFF2-40B4-BE49-F238E27FC236}">
                <a16:creationId xmlns:a16="http://schemas.microsoft.com/office/drawing/2014/main" id="{ED8BBE4E-4FFF-4FA1-BFE5-1A92771FE8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55" t="33529" r="10329" b="15527"/>
          <a:stretch/>
        </p:blipFill>
        <p:spPr bwMode="auto">
          <a:xfrm>
            <a:off x="8944283" y="3671531"/>
            <a:ext cx="2723476" cy="2246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0C9E5A8F-E303-4726-B39C-9015A696CAE2}"/>
              </a:ext>
            </a:extLst>
          </p:cNvPr>
          <p:cNvCxnSpPr>
            <a:cxnSpLocks/>
          </p:cNvCxnSpPr>
          <p:nvPr/>
        </p:nvCxnSpPr>
        <p:spPr>
          <a:xfrm>
            <a:off x="4639040" y="3697922"/>
            <a:ext cx="346228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0507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000CF5-EE65-4867-B2A6-79D3A6B05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b="1" dirty="0"/>
              <a:t>Экспериментальная установка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CEB500D-F3F1-4105-8717-3988CEA7B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ADF5-9450-4D4F-A358-25896FFD9952}" type="slidenum">
              <a:rPr lang="ru-RU" sz="2000" b="1" smtClean="0">
                <a:solidFill>
                  <a:schemeClr val="tx1"/>
                </a:solidFill>
              </a:rPr>
              <a:t>9</a:t>
            </a:fld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10" name="Нижний колонтитул 3">
            <a:extLst>
              <a:ext uri="{FF2B5EF4-FFF2-40B4-BE49-F238E27FC236}">
                <a16:creationId xmlns:a16="http://schemas.microsoft.com/office/drawing/2014/main" id="{A8B7C275-A070-41D0-93E0-D6718E67F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ru-RU" sz="2000" b="1" dirty="0">
                <a:solidFill>
                  <a:schemeClr val="tx1"/>
                </a:solidFill>
              </a:rPr>
              <a:t>Эксперимент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A408E7C-FD1D-4685-B536-50AAFC527F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765" t="26853" r="21485" b="17499"/>
          <a:stretch/>
        </p:blipFill>
        <p:spPr>
          <a:xfrm>
            <a:off x="1446754" y="1320543"/>
            <a:ext cx="3735891" cy="30178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9F1B7F6-8825-4783-B944-F76F8A625FFA}"/>
              </a:ext>
            </a:extLst>
          </p:cNvPr>
          <p:cNvSpPr txBox="1"/>
          <p:nvPr/>
        </p:nvSpPr>
        <p:spPr>
          <a:xfrm>
            <a:off x="1361032" y="4338380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1-2:</a:t>
            </a:r>
            <a:r>
              <a:rPr lang="ru-RU" dirty="0"/>
              <a:t> Рентгеновская трубка</a:t>
            </a:r>
            <a:endParaRPr lang="en-US" dirty="0"/>
          </a:p>
          <a:p>
            <a:r>
              <a:rPr lang="en-US" dirty="0"/>
              <a:t>4:</a:t>
            </a:r>
            <a:r>
              <a:rPr lang="ru-RU" dirty="0"/>
              <a:t> Образец</a:t>
            </a:r>
            <a:endParaRPr lang="en-US" dirty="0"/>
          </a:p>
          <a:p>
            <a:r>
              <a:rPr lang="en-US" dirty="0"/>
              <a:t>5:</a:t>
            </a:r>
            <a:r>
              <a:rPr lang="ru-RU" dirty="0"/>
              <a:t> Щель - 1</a:t>
            </a:r>
            <a:br>
              <a:rPr lang="en-US" dirty="0"/>
            </a:br>
            <a:r>
              <a:rPr lang="en-US" dirty="0"/>
              <a:t>6:</a:t>
            </a:r>
            <a:r>
              <a:rPr lang="ru-RU" dirty="0"/>
              <a:t> Дифракционное зеркало</a:t>
            </a:r>
            <a:br>
              <a:rPr lang="en-US" dirty="0"/>
            </a:br>
            <a:r>
              <a:rPr lang="en-US" dirty="0"/>
              <a:t>7:</a:t>
            </a:r>
            <a:r>
              <a:rPr lang="ru-RU" dirty="0"/>
              <a:t> Щель - 2</a:t>
            </a:r>
            <a:br>
              <a:rPr lang="en-US" dirty="0"/>
            </a:br>
            <a:r>
              <a:rPr lang="en-US" dirty="0"/>
              <a:t>8: </a:t>
            </a:r>
            <a:r>
              <a:rPr lang="ru-RU" dirty="0"/>
              <a:t>Детектор (Счётчик Гейгера)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23E63C7-64E9-489B-B1CE-3A125C8A294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5000" t="38522" r="32500" b="19583"/>
          <a:stretch/>
        </p:blipFill>
        <p:spPr>
          <a:xfrm>
            <a:off x="7457032" y="1446747"/>
            <a:ext cx="2743200" cy="28731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61A8AE8-825C-469A-9EC6-8DA739621FEB}"/>
                  </a:ext>
                </a:extLst>
              </p:cNvPr>
              <p:cNvSpPr txBox="1"/>
              <p:nvPr/>
            </p:nvSpPr>
            <p:spPr>
              <a:xfrm>
                <a:off x="6275408" y="4433925"/>
                <a:ext cx="510644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Изогнутая дифракционная решётка </a:t>
                </a:r>
                <a:r>
                  <a:rPr lang="ru-RU" dirty="0" err="1"/>
                  <a:t>Брегга</a:t>
                </a:r>
                <a:r>
                  <a:rPr lang="ru-RU" dirty="0"/>
                  <a:t>-Вульфа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ru-RU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ru-RU" i="0" smtClean="0">
                        <a:latin typeface="Cambria Math" panose="02040503050406030204" pitchFamily="18" charset="0"/>
                      </a:rPr>
                      <m:t>ⅆ</m:t>
                    </m:r>
                    <m:func>
                      <m:func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ru-RU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ru-RU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ru-RU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ru-RU" dirty="0"/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61A8AE8-825C-469A-9EC6-8DA739621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5408" y="4433925"/>
                <a:ext cx="5106447" cy="646331"/>
              </a:xfrm>
              <a:prstGeom prst="rect">
                <a:avLst/>
              </a:prstGeom>
              <a:blipFill>
                <a:blip r:embed="rId5"/>
                <a:stretch>
                  <a:fillRect l="-955" t="-4717" r="-8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89A26E75-AAA1-45F0-BBBC-53B3FC8A7A19}"/>
              </a:ext>
            </a:extLst>
          </p:cNvPr>
          <p:cNvCxnSpPr>
            <a:cxnSpLocks/>
          </p:cNvCxnSpPr>
          <p:nvPr/>
        </p:nvCxnSpPr>
        <p:spPr>
          <a:xfrm flipH="1">
            <a:off x="4991100" y="1828800"/>
            <a:ext cx="2971801" cy="8953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7122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000CF5-EE65-4867-B2A6-79D3A6B05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b="1" dirty="0"/>
              <a:t>Характеристический рентгеновский спектр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CEB500D-F3F1-4105-8717-3988CEA7B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ADF5-9450-4D4F-A358-25896FFD9952}" type="slidenum">
              <a:rPr lang="ru-RU" sz="2000" b="1" smtClean="0">
                <a:solidFill>
                  <a:schemeClr val="tx1"/>
                </a:solidFill>
              </a:rPr>
              <a:t>10</a:t>
            </a:fld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193CEC9-ED39-49B6-A788-A44105EEA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30151"/>
            <a:ext cx="10515600" cy="595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Спектры были получены для элементов</a:t>
            </a:r>
            <a:r>
              <a:rPr lang="en-US" b="1" dirty="0"/>
              <a:t>: Ta, W, Re, </a:t>
            </a:r>
            <a:r>
              <a:rPr lang="en-US" b="1" dirty="0" err="1"/>
              <a:t>Os</a:t>
            </a:r>
            <a:r>
              <a:rPr lang="en-US" b="1" dirty="0"/>
              <a:t>, Pt, Au, Pb</a:t>
            </a:r>
            <a:endParaRPr lang="ru-RU" b="1" dirty="0"/>
          </a:p>
        </p:txBody>
      </p:sp>
      <p:sp>
        <p:nvSpPr>
          <p:cNvPr id="13" name="Нижний колонтитул 3">
            <a:extLst>
              <a:ext uri="{FF2B5EF4-FFF2-40B4-BE49-F238E27FC236}">
                <a16:creationId xmlns:a16="http://schemas.microsoft.com/office/drawing/2014/main" id="{B3BB8AA9-CE13-44A2-A7C8-D0F739C30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ru-RU" sz="2000" b="1" dirty="0">
                <a:solidFill>
                  <a:schemeClr val="tx1"/>
                </a:solidFill>
              </a:rPr>
              <a:t>Эксперимент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F01153A-6A02-4B7E-A7EA-5ED1E78251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578" y="1351841"/>
            <a:ext cx="5187949" cy="3890962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B8A9CBB-A977-4A2D-9A55-9D5E3AA8F7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75" y="1325563"/>
            <a:ext cx="5187949" cy="38909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1D8A1CB-1439-4446-B780-1F5FF87C5A7F}"/>
                  </a:ext>
                </a:extLst>
              </p:cNvPr>
              <p:cNvSpPr txBox="1"/>
              <p:nvPr/>
            </p:nvSpPr>
            <p:spPr>
              <a:xfrm>
                <a:off x="2153920" y="4460240"/>
                <a:ext cx="233846" cy="182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1D8A1CB-1439-4446-B780-1F5FF87C5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920" y="4460240"/>
                <a:ext cx="233846" cy="182999"/>
              </a:xfrm>
              <a:prstGeom prst="rect">
                <a:avLst/>
              </a:prstGeom>
              <a:blipFill>
                <a:blip r:embed="rId5"/>
                <a:stretch>
                  <a:fillRect l="-12821" r="-10256" b="-3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1BCA187-690A-4001-891D-C5AC3E808893}"/>
                  </a:ext>
                </a:extLst>
              </p:cNvPr>
              <p:cNvSpPr txBox="1"/>
              <p:nvPr/>
            </p:nvSpPr>
            <p:spPr>
              <a:xfrm>
                <a:off x="2357452" y="4277241"/>
                <a:ext cx="233847" cy="182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1BCA187-690A-4001-891D-C5AC3E808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452" y="4277241"/>
                <a:ext cx="233847" cy="182999"/>
              </a:xfrm>
              <a:prstGeom prst="rect">
                <a:avLst/>
              </a:prstGeom>
              <a:blipFill>
                <a:blip r:embed="rId6"/>
                <a:stretch>
                  <a:fillRect l="-13158" r="-13158" b="-3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2E850D-1C29-40DA-887B-55286D717E36}"/>
                  </a:ext>
                </a:extLst>
              </p:cNvPr>
              <p:cNvSpPr txBox="1"/>
              <p:nvPr/>
            </p:nvSpPr>
            <p:spPr>
              <a:xfrm>
                <a:off x="2594558" y="3856553"/>
                <a:ext cx="233847" cy="182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2E850D-1C29-40DA-887B-55286D717E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558" y="3856553"/>
                <a:ext cx="233847" cy="182999"/>
              </a:xfrm>
              <a:prstGeom prst="rect">
                <a:avLst/>
              </a:prstGeom>
              <a:blipFill>
                <a:blip r:embed="rId7"/>
                <a:stretch>
                  <a:fillRect l="-13158" r="-13158" b="-3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E97CEE7-68B7-4256-A0E3-8D64E1B38A8E}"/>
                  </a:ext>
                </a:extLst>
              </p:cNvPr>
              <p:cNvSpPr txBox="1"/>
              <p:nvPr/>
            </p:nvSpPr>
            <p:spPr>
              <a:xfrm>
                <a:off x="3296920" y="4473962"/>
                <a:ext cx="233462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E97CEE7-68B7-4256-A0E3-8D64E1B38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920" y="4473962"/>
                <a:ext cx="233462" cy="169277"/>
              </a:xfrm>
              <a:prstGeom prst="rect">
                <a:avLst/>
              </a:prstGeom>
              <a:blipFill>
                <a:blip r:embed="rId8"/>
                <a:stretch>
                  <a:fillRect l="-13158" r="-7895" b="-178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0D7318E-69EC-409A-B6F0-0E981961CF03}"/>
                  </a:ext>
                </a:extLst>
              </p:cNvPr>
              <p:cNvSpPr txBox="1"/>
              <p:nvPr/>
            </p:nvSpPr>
            <p:spPr>
              <a:xfrm>
                <a:off x="3471851" y="3399353"/>
                <a:ext cx="233462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0D7318E-69EC-409A-B6F0-0E981961CF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1851" y="3399353"/>
                <a:ext cx="233462" cy="169277"/>
              </a:xfrm>
              <a:prstGeom prst="rect">
                <a:avLst/>
              </a:prstGeom>
              <a:blipFill>
                <a:blip r:embed="rId9"/>
                <a:stretch>
                  <a:fillRect l="-13158" r="-7895" b="-2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9695778-21C4-4B94-B3FF-90835E87588F}"/>
                  </a:ext>
                </a:extLst>
              </p:cNvPr>
              <p:cNvSpPr txBox="1"/>
              <p:nvPr/>
            </p:nvSpPr>
            <p:spPr>
              <a:xfrm>
                <a:off x="3588582" y="4039552"/>
                <a:ext cx="233462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9695778-21C4-4B94-B3FF-90835E875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8582" y="4039552"/>
                <a:ext cx="233462" cy="169277"/>
              </a:xfrm>
              <a:prstGeom prst="rect">
                <a:avLst/>
              </a:prstGeom>
              <a:blipFill>
                <a:blip r:embed="rId10"/>
                <a:stretch>
                  <a:fillRect l="-13158" r="-7895" b="-2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5088190-1957-403E-8036-B105796A70DB}"/>
                  </a:ext>
                </a:extLst>
              </p:cNvPr>
              <p:cNvSpPr txBox="1"/>
              <p:nvPr/>
            </p:nvSpPr>
            <p:spPr>
              <a:xfrm>
                <a:off x="3891063" y="4277240"/>
                <a:ext cx="233462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5088190-1957-403E-8036-B105796A7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1063" y="4277240"/>
                <a:ext cx="233462" cy="169277"/>
              </a:xfrm>
              <a:prstGeom prst="rect">
                <a:avLst/>
              </a:prstGeom>
              <a:blipFill>
                <a:blip r:embed="rId11"/>
                <a:stretch>
                  <a:fillRect l="-12821" r="-5128" b="-2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999A374-D433-409E-83B3-597F03D1D5F8}"/>
                  </a:ext>
                </a:extLst>
              </p:cNvPr>
              <p:cNvSpPr txBox="1"/>
              <p:nvPr/>
            </p:nvSpPr>
            <p:spPr>
              <a:xfrm>
                <a:off x="3876156" y="1641475"/>
                <a:ext cx="233462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999A374-D433-409E-83B3-597F03D1D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6156" y="1641475"/>
                <a:ext cx="233462" cy="169277"/>
              </a:xfrm>
              <a:prstGeom prst="rect">
                <a:avLst/>
              </a:prstGeom>
              <a:blipFill>
                <a:blip r:embed="rId12"/>
                <a:stretch>
                  <a:fillRect l="-13158" r="-7895" b="-178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4090D6F-D3B5-4F05-B2C0-11289B01D127}"/>
                  </a:ext>
                </a:extLst>
              </p:cNvPr>
              <p:cNvSpPr txBox="1"/>
              <p:nvPr/>
            </p:nvSpPr>
            <p:spPr>
              <a:xfrm>
                <a:off x="5027929" y="4277239"/>
                <a:ext cx="236668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4090D6F-D3B5-4F05-B2C0-11289B01D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929" y="4277239"/>
                <a:ext cx="236668" cy="169277"/>
              </a:xfrm>
              <a:prstGeom prst="rect">
                <a:avLst/>
              </a:prstGeom>
              <a:blipFill>
                <a:blip r:embed="rId13"/>
                <a:stretch>
                  <a:fillRect l="-12821" r="-7692" b="-2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ECFE946-39DD-4691-B2BB-2376BD5E73C5}"/>
                  </a:ext>
                </a:extLst>
              </p:cNvPr>
              <p:cNvSpPr txBox="1"/>
              <p:nvPr/>
            </p:nvSpPr>
            <p:spPr>
              <a:xfrm>
                <a:off x="4911198" y="2060634"/>
                <a:ext cx="236668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ECFE946-39DD-4691-B2BB-2376BD5E7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1198" y="2060634"/>
                <a:ext cx="236668" cy="169277"/>
              </a:xfrm>
              <a:prstGeom prst="rect">
                <a:avLst/>
              </a:prstGeom>
              <a:blipFill>
                <a:blip r:embed="rId14"/>
                <a:stretch>
                  <a:fillRect l="-13158" r="-10526" b="-178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C172D29-CB42-4387-9FD2-845293D7A325}"/>
                  </a:ext>
                </a:extLst>
              </p:cNvPr>
              <p:cNvSpPr txBox="1"/>
              <p:nvPr/>
            </p:nvSpPr>
            <p:spPr>
              <a:xfrm>
                <a:off x="7341869" y="4375601"/>
                <a:ext cx="233847" cy="182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C172D29-CB42-4387-9FD2-845293D7A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1869" y="4375601"/>
                <a:ext cx="233847" cy="182999"/>
              </a:xfrm>
              <a:prstGeom prst="rect">
                <a:avLst/>
              </a:prstGeom>
              <a:blipFill>
                <a:blip r:embed="rId6"/>
                <a:stretch>
                  <a:fillRect l="-12821" r="-10256" b="-3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48AD97F-8539-4751-B0A3-6B497D63AFDE}"/>
                  </a:ext>
                </a:extLst>
              </p:cNvPr>
              <p:cNvSpPr txBox="1"/>
              <p:nvPr/>
            </p:nvSpPr>
            <p:spPr>
              <a:xfrm>
                <a:off x="7576767" y="3863413"/>
                <a:ext cx="233847" cy="182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48AD97F-8539-4751-B0A3-6B497D63A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6767" y="3863413"/>
                <a:ext cx="233847" cy="182999"/>
              </a:xfrm>
              <a:prstGeom prst="rect">
                <a:avLst/>
              </a:prstGeom>
              <a:blipFill>
                <a:blip r:embed="rId15"/>
                <a:stretch>
                  <a:fillRect l="-13158" r="-13158" b="-3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178F887-7761-4F9C-AFF4-B6F4A0D560D7}"/>
                  </a:ext>
                </a:extLst>
              </p:cNvPr>
              <p:cNvSpPr txBox="1"/>
              <p:nvPr/>
            </p:nvSpPr>
            <p:spPr>
              <a:xfrm>
                <a:off x="8260323" y="4443341"/>
                <a:ext cx="233462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178F887-7761-4F9C-AFF4-B6F4A0D56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0323" y="4443341"/>
                <a:ext cx="233462" cy="169277"/>
              </a:xfrm>
              <a:prstGeom prst="rect">
                <a:avLst/>
              </a:prstGeom>
              <a:blipFill>
                <a:blip r:embed="rId16"/>
                <a:stretch>
                  <a:fillRect l="-13158" r="-10526" b="-178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111F0F2-398A-4C4C-8A54-C11DD47F411F}"/>
                  </a:ext>
                </a:extLst>
              </p:cNvPr>
              <p:cNvSpPr txBox="1"/>
              <p:nvPr/>
            </p:nvSpPr>
            <p:spPr>
              <a:xfrm>
                <a:off x="8429076" y="3399353"/>
                <a:ext cx="233462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111F0F2-398A-4C4C-8A54-C11DD47F4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9076" y="3399353"/>
                <a:ext cx="233462" cy="169277"/>
              </a:xfrm>
              <a:prstGeom prst="rect">
                <a:avLst/>
              </a:prstGeom>
              <a:blipFill>
                <a:blip r:embed="rId9"/>
                <a:stretch>
                  <a:fillRect l="-13158" r="-7895" b="-2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CF5DBC3-7109-4A6B-A924-19EAEAA0EE77}"/>
                  </a:ext>
                </a:extLst>
              </p:cNvPr>
              <p:cNvSpPr txBox="1"/>
              <p:nvPr/>
            </p:nvSpPr>
            <p:spPr>
              <a:xfrm>
                <a:off x="8804937" y="4274064"/>
                <a:ext cx="233462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CF5DBC3-7109-4A6B-A924-19EAEAA0E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4937" y="4274064"/>
                <a:ext cx="233462" cy="169277"/>
              </a:xfrm>
              <a:prstGeom prst="rect">
                <a:avLst/>
              </a:prstGeom>
              <a:blipFill>
                <a:blip r:embed="rId11"/>
                <a:stretch>
                  <a:fillRect l="-12821" r="-5128" b="-178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346C5BD-808F-4BF7-8D17-F8F8CDED9EC5}"/>
                  </a:ext>
                </a:extLst>
              </p:cNvPr>
              <p:cNvSpPr txBox="1"/>
              <p:nvPr/>
            </p:nvSpPr>
            <p:spPr>
              <a:xfrm>
                <a:off x="8804937" y="1608460"/>
                <a:ext cx="233462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346C5BD-808F-4BF7-8D17-F8F8CDED9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4937" y="1608460"/>
                <a:ext cx="233462" cy="169277"/>
              </a:xfrm>
              <a:prstGeom prst="rect">
                <a:avLst/>
              </a:prstGeom>
              <a:blipFill>
                <a:blip r:embed="rId12"/>
                <a:stretch>
                  <a:fillRect l="-12821" r="-5128" b="-178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0E8CDA8-6A28-48DF-B636-ED7D478ECFBD}"/>
                  </a:ext>
                </a:extLst>
              </p:cNvPr>
              <p:cNvSpPr txBox="1"/>
              <p:nvPr/>
            </p:nvSpPr>
            <p:spPr>
              <a:xfrm>
                <a:off x="9745532" y="2296111"/>
                <a:ext cx="236668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0E8CDA8-6A28-48DF-B636-ED7D478EC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5532" y="2296111"/>
                <a:ext cx="236668" cy="169277"/>
              </a:xfrm>
              <a:prstGeom prst="rect">
                <a:avLst/>
              </a:prstGeom>
              <a:blipFill>
                <a:blip r:embed="rId14"/>
                <a:stretch>
                  <a:fillRect l="-12821" r="-7692" b="-2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B7DA16D-DF76-4C21-B28F-204C939FF07E}"/>
                  </a:ext>
                </a:extLst>
              </p:cNvPr>
              <p:cNvSpPr txBox="1"/>
              <p:nvPr/>
            </p:nvSpPr>
            <p:spPr>
              <a:xfrm>
                <a:off x="9967413" y="4208829"/>
                <a:ext cx="236668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B7DA16D-DF76-4C21-B28F-204C939FF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7413" y="4208829"/>
                <a:ext cx="236668" cy="169277"/>
              </a:xfrm>
              <a:prstGeom prst="rect">
                <a:avLst/>
              </a:prstGeom>
              <a:blipFill>
                <a:blip r:embed="rId13"/>
                <a:stretch>
                  <a:fillRect l="-12821" r="-7692" b="-178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9612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000CF5-EE65-4867-B2A6-79D3A6B05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dirty="0"/>
              <a:t>Зависимость энергии расщепления </a:t>
            </a:r>
            <a:r>
              <a:rPr lang="en-US" sz="3600" b="1" dirty="0"/>
              <a:t>2p</a:t>
            </a:r>
            <a:r>
              <a:rPr lang="ru-RU" sz="3600" b="1" dirty="0"/>
              <a:t> от заряда атомного ядра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CEB500D-F3F1-4105-8717-3988CEA7B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ADF5-9450-4D4F-A358-25896FFD9952}" type="slidenum">
              <a:rPr lang="ru-RU" sz="2000" b="1" smtClean="0">
                <a:solidFill>
                  <a:schemeClr val="tx1"/>
                </a:solidFill>
              </a:rPr>
              <a:t>11</a:t>
            </a:fld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13" name="Нижний колонтитул 3">
            <a:extLst>
              <a:ext uri="{FF2B5EF4-FFF2-40B4-BE49-F238E27FC236}">
                <a16:creationId xmlns:a16="http://schemas.microsoft.com/office/drawing/2014/main" id="{B3BB8AA9-CE13-44A2-A7C8-D0F739C30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43348" y="6356350"/>
            <a:ext cx="4114800" cy="365125"/>
          </a:xfrm>
        </p:spPr>
        <p:txBody>
          <a:bodyPr/>
          <a:lstStyle/>
          <a:p>
            <a:r>
              <a:rPr lang="ru-RU" sz="2000" b="1" dirty="0">
                <a:solidFill>
                  <a:schemeClr val="tx1"/>
                </a:solidFill>
              </a:rPr>
              <a:t>Обработка</a:t>
            </a:r>
          </a:p>
        </p:txBody>
      </p:sp>
      <p:pic>
        <p:nvPicPr>
          <p:cNvPr id="2066" name="Picture 18">
            <a:extLst>
              <a:ext uri="{FF2B5EF4-FFF2-40B4-BE49-F238E27FC236}">
                <a16:creationId xmlns:a16="http://schemas.microsoft.com/office/drawing/2014/main" id="{E1D6E387-0D15-44ED-9573-23578B108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25563"/>
            <a:ext cx="5162548" cy="352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A0B7228-D9F2-444F-84F2-B073C1202E5E}"/>
                  </a:ext>
                </a:extLst>
              </p:cNvPr>
              <p:cNvSpPr txBox="1"/>
              <p:nvPr/>
            </p:nvSpPr>
            <p:spPr>
              <a:xfrm>
                <a:off x="838201" y="5476699"/>
                <a:ext cx="10515597" cy="6957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Также линии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наблюдались для </a:t>
                </a:r>
                <a:r>
                  <a:rPr lang="en-US" dirty="0"/>
                  <a:t>Pb, </a:t>
                </a:r>
                <a:r>
                  <a:rPr lang="ru-RU" dirty="0"/>
                  <a:t>что позволяет по-другому оценить энергию расщепления</a:t>
                </a:r>
                <a:r>
                  <a:rPr lang="en-US" dirty="0"/>
                  <a:t> 2p: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=21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ru-RU" b="1" i="1" dirty="0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0.3 эВ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m:rPr>
                            <m:sty m:val="p"/>
                          </m:rPr>
                          <a:rPr lang="el-GR" b="0" i="1" dirty="0" smtClean="0">
                            <a:latin typeface="Cambria Math" panose="02040503050406030204" pitchFamily="18" charset="0"/>
                          </a:rPr>
                          <m:t>η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=21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8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±0.3 эВ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𝑡h𝑒𝑜𝑟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=18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.5 эВ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A0B7228-D9F2-444F-84F2-B073C1202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5476699"/>
                <a:ext cx="10515597" cy="695703"/>
              </a:xfrm>
              <a:prstGeom prst="rect">
                <a:avLst/>
              </a:prstGeom>
              <a:blipFill>
                <a:blip r:embed="rId4"/>
                <a:stretch>
                  <a:fillRect l="-522" t="-3478" b="-17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6" name="Picture 4">
            <a:extLst>
              <a:ext uri="{FF2B5EF4-FFF2-40B4-BE49-F238E27FC236}">
                <a16:creationId xmlns:a16="http://schemas.microsoft.com/office/drawing/2014/main" id="{15AEF98B-03F7-48E8-8EC5-6C16E41E5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48" y="1325563"/>
            <a:ext cx="5162549" cy="352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64B87DD-0931-46D5-974B-29521BDEDCB8}"/>
                  </a:ext>
                </a:extLst>
              </p:cNvPr>
              <p:cNvSpPr txBox="1"/>
              <p:nvPr/>
            </p:nvSpPr>
            <p:spPr>
              <a:xfrm>
                <a:off x="2421729" y="4846839"/>
                <a:ext cx="209312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k = 4.65</a:t>
                </a:r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ru-RU" sz="2400" dirty="0"/>
                  <a:t> 0.05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64B87DD-0931-46D5-974B-29521BDED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1729" y="4846839"/>
                <a:ext cx="2093121" cy="461665"/>
              </a:xfrm>
              <a:prstGeom prst="rect">
                <a:avLst/>
              </a:prstGeom>
              <a:blipFill>
                <a:blip r:embed="rId6"/>
                <a:stretch>
                  <a:fillRect l="-4360" t="-10526" r="-23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B6D333-EA1F-4BB5-9DA2-627CEC0F6DD5}"/>
                  </a:ext>
                </a:extLst>
              </p:cNvPr>
              <p:cNvSpPr txBox="1"/>
              <p:nvPr/>
            </p:nvSpPr>
            <p:spPr>
              <a:xfrm>
                <a:off x="7774783" y="4837314"/>
                <a:ext cx="209312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k = 6.16</a:t>
                </a:r>
                <a:r>
                  <a:rPr lang="ru-RU" sz="2400" b="1" dirty="0"/>
                  <a:t> </a:t>
                </a:r>
                <a14:m>
                  <m:oMath xmlns:m="http://schemas.openxmlformats.org/officeDocument/2006/math"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ru-RU" sz="2400" dirty="0"/>
                  <a:t> 0.01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B6D333-EA1F-4BB5-9DA2-627CEC0F6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4783" y="4837314"/>
                <a:ext cx="2093121" cy="461665"/>
              </a:xfrm>
              <a:prstGeom prst="rect">
                <a:avLst/>
              </a:prstGeom>
              <a:blipFill>
                <a:blip r:embed="rId7"/>
                <a:stretch>
                  <a:fillRect l="-4360" t="-10667" r="-2326" b="-30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8767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000CF5-EE65-4867-B2A6-79D3A6B05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dirty="0"/>
              <a:t>Зависимость энергии расщепления </a:t>
            </a:r>
            <a:r>
              <a:rPr lang="en-US" sz="3600" b="1" dirty="0"/>
              <a:t>3p</a:t>
            </a:r>
            <a:r>
              <a:rPr lang="ru-RU" sz="3600" b="1" dirty="0"/>
              <a:t> от заряда атомного ядра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CEB500D-F3F1-4105-8717-3988CEA7B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ADF5-9450-4D4F-A358-25896FFD9952}" type="slidenum">
              <a:rPr lang="ru-RU" sz="2000" b="1" smtClean="0">
                <a:solidFill>
                  <a:schemeClr val="tx1"/>
                </a:solidFill>
              </a:rPr>
              <a:t>12</a:t>
            </a:fld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13" name="Нижний колонтитул 3">
            <a:extLst>
              <a:ext uri="{FF2B5EF4-FFF2-40B4-BE49-F238E27FC236}">
                <a16:creationId xmlns:a16="http://schemas.microsoft.com/office/drawing/2014/main" id="{B3BB8AA9-CE13-44A2-A7C8-D0F739C30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52655" y="6356350"/>
            <a:ext cx="4114800" cy="365125"/>
          </a:xfrm>
        </p:spPr>
        <p:txBody>
          <a:bodyPr/>
          <a:lstStyle/>
          <a:p>
            <a:r>
              <a:rPr lang="ru-RU" sz="2000" b="1" dirty="0">
                <a:solidFill>
                  <a:schemeClr val="tx1"/>
                </a:solidFill>
              </a:rPr>
              <a:t>Обработка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CCE02A62-FDC0-46BF-A0ED-24B5C223F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310" y="1325563"/>
            <a:ext cx="5229692" cy="352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895D937C-B055-4476-8182-1E295C6BA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8169" y="1325563"/>
            <a:ext cx="5229692" cy="352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FD63A6E-8CDB-49DB-8145-CFEE16C0A861}"/>
                  </a:ext>
                </a:extLst>
              </p:cNvPr>
              <p:cNvSpPr txBox="1"/>
              <p:nvPr/>
            </p:nvSpPr>
            <p:spPr>
              <a:xfrm>
                <a:off x="2478648" y="4846838"/>
                <a:ext cx="211240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k = 4.75</a:t>
                </a:r>
                <a:r>
                  <a:rPr lang="ru-RU" sz="2400" b="1" dirty="0"/>
                  <a:t> </a:t>
                </a:r>
                <a14:m>
                  <m:oMath xmlns:m="http://schemas.openxmlformats.org/officeDocument/2006/math"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ru-RU" sz="2400" dirty="0"/>
                  <a:t> 0.17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FD63A6E-8CDB-49DB-8145-CFEE16C0A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648" y="4846838"/>
                <a:ext cx="2112402" cy="461665"/>
              </a:xfrm>
              <a:prstGeom prst="rect">
                <a:avLst/>
              </a:prstGeom>
              <a:blipFill>
                <a:blip r:embed="rId5"/>
                <a:stretch>
                  <a:fillRect l="-4624" t="-10526" r="-1445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F10E828-6E30-442A-9871-1586F46034DA}"/>
                  </a:ext>
                </a:extLst>
              </p:cNvPr>
              <p:cNvSpPr txBox="1"/>
              <p:nvPr/>
            </p:nvSpPr>
            <p:spPr>
              <a:xfrm>
                <a:off x="7750508" y="4846838"/>
                <a:ext cx="211240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k = 5.83</a:t>
                </a:r>
                <a:r>
                  <a:rPr lang="ru-RU" sz="2400" b="1" dirty="0"/>
                  <a:t> </a:t>
                </a:r>
                <a14:m>
                  <m:oMath xmlns:m="http://schemas.openxmlformats.org/officeDocument/2006/math"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ru-RU" sz="2400" dirty="0"/>
                  <a:t> 0.01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F10E828-6E30-442A-9871-1586F4603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508" y="4846838"/>
                <a:ext cx="2112402" cy="461665"/>
              </a:xfrm>
              <a:prstGeom prst="rect">
                <a:avLst/>
              </a:prstGeom>
              <a:blipFill>
                <a:blip r:embed="rId6"/>
                <a:stretch>
                  <a:fillRect l="-4323" t="-10526" r="-1441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0950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000CF5-EE65-4867-B2A6-79D3A6B05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dirty="0"/>
              <a:t>Зависимость энергии расщепления </a:t>
            </a:r>
            <a:r>
              <a:rPr lang="en-US" sz="3600" b="1" dirty="0"/>
              <a:t>3</a:t>
            </a:r>
            <a:r>
              <a:rPr lang="ru-RU" sz="3600" b="1" dirty="0"/>
              <a:t>d от заряда атомного ядра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CEB500D-F3F1-4105-8717-3988CEA7B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ADF5-9450-4D4F-A358-25896FFD9952}" type="slidenum">
              <a:rPr lang="ru-RU" sz="2000" b="1" smtClean="0">
                <a:solidFill>
                  <a:schemeClr val="tx1"/>
                </a:solidFill>
              </a:rPr>
              <a:t>13</a:t>
            </a:fld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13" name="Нижний колонтитул 3">
            <a:extLst>
              <a:ext uri="{FF2B5EF4-FFF2-40B4-BE49-F238E27FC236}">
                <a16:creationId xmlns:a16="http://schemas.microsoft.com/office/drawing/2014/main" id="{B3BB8AA9-CE13-44A2-A7C8-D0F739C30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40475"/>
            <a:ext cx="4114800" cy="365125"/>
          </a:xfrm>
        </p:spPr>
        <p:txBody>
          <a:bodyPr/>
          <a:lstStyle/>
          <a:p>
            <a:r>
              <a:rPr lang="ru-RU" sz="2000" b="1" dirty="0">
                <a:solidFill>
                  <a:schemeClr val="tx1"/>
                </a:solidFill>
              </a:rPr>
              <a:t>Обработка</a:t>
            </a:r>
          </a:p>
        </p:txBody>
      </p:sp>
      <p:pic>
        <p:nvPicPr>
          <p:cNvPr id="1042" name="Picture 18">
            <a:extLst>
              <a:ext uri="{FF2B5EF4-FFF2-40B4-BE49-F238E27FC236}">
                <a16:creationId xmlns:a16="http://schemas.microsoft.com/office/drawing/2014/main" id="{FEA89C37-85C7-494E-9CA5-2FED7E72B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4" y="1325561"/>
            <a:ext cx="5162549" cy="352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4DE8C012-03B1-4B9F-A6A1-18029D8E4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49" y="1325561"/>
            <a:ext cx="5162549" cy="352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BD24362-D0E5-41FE-BECF-6A5082BA516C}"/>
                  </a:ext>
                </a:extLst>
              </p:cNvPr>
              <p:cNvSpPr txBox="1"/>
              <p:nvPr/>
            </p:nvSpPr>
            <p:spPr>
              <a:xfrm>
                <a:off x="2388386" y="4837313"/>
                <a:ext cx="20621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k = 4.46</a:t>
                </a:r>
                <a:r>
                  <a:rPr lang="ru-RU" sz="2400" b="1" dirty="0"/>
                  <a:t> </a:t>
                </a:r>
                <a14:m>
                  <m:oMath xmlns:m="http://schemas.openxmlformats.org/officeDocument/2006/math"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ru-RU" sz="2400" dirty="0"/>
                  <a:t> 0.08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BD24362-D0E5-41FE-BECF-6A5082BA5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386" y="4837313"/>
                <a:ext cx="2062164" cy="461665"/>
              </a:xfrm>
              <a:prstGeom prst="rect">
                <a:avLst/>
              </a:prstGeom>
              <a:blipFill>
                <a:blip r:embed="rId5"/>
                <a:stretch>
                  <a:fillRect l="-4734" t="-10667" r="-3846" b="-30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069C71-1028-441B-B469-15C77992676C}"/>
                  </a:ext>
                </a:extLst>
              </p:cNvPr>
              <p:cNvSpPr txBox="1"/>
              <p:nvPr/>
            </p:nvSpPr>
            <p:spPr>
              <a:xfrm>
                <a:off x="7774780" y="4837313"/>
                <a:ext cx="20621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k = 4.78</a:t>
                </a:r>
                <a:r>
                  <a:rPr lang="ru-RU" sz="2400" b="1" dirty="0"/>
                  <a:t> </a:t>
                </a:r>
                <a14:m>
                  <m:oMath xmlns:m="http://schemas.openxmlformats.org/officeDocument/2006/math"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ru-RU" sz="2400" dirty="0"/>
                  <a:t> 0.01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069C71-1028-441B-B469-15C779926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4780" y="4837313"/>
                <a:ext cx="2062164" cy="461665"/>
              </a:xfrm>
              <a:prstGeom prst="rect">
                <a:avLst/>
              </a:prstGeom>
              <a:blipFill>
                <a:blip r:embed="rId6"/>
                <a:stretch>
                  <a:fillRect l="-4425" t="-10667" r="-3835" b="-30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5393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000CF5-EE65-4867-B2A6-79D3A6B05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dirty="0"/>
              <a:t>Зависимость энергии расщепления 4</a:t>
            </a:r>
            <a:r>
              <a:rPr lang="en-US" sz="3600" b="1" dirty="0"/>
              <a:t>p</a:t>
            </a:r>
            <a:r>
              <a:rPr lang="ru-RU" sz="3600" b="1" dirty="0"/>
              <a:t> от заряда атомного ядра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CEB500D-F3F1-4105-8717-3988CEA7B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ADF5-9450-4D4F-A358-25896FFD9952}" type="slidenum">
              <a:rPr lang="ru-RU" sz="2000" b="1" smtClean="0">
                <a:solidFill>
                  <a:schemeClr val="tx1"/>
                </a:solidFill>
              </a:rPr>
              <a:t>14</a:t>
            </a:fld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13" name="Нижний колонтитул 3">
            <a:extLst>
              <a:ext uri="{FF2B5EF4-FFF2-40B4-BE49-F238E27FC236}">
                <a16:creationId xmlns:a16="http://schemas.microsoft.com/office/drawing/2014/main" id="{B3BB8AA9-CE13-44A2-A7C8-D0F739C30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43340" y="6356350"/>
            <a:ext cx="4114800" cy="365125"/>
          </a:xfrm>
        </p:spPr>
        <p:txBody>
          <a:bodyPr/>
          <a:lstStyle/>
          <a:p>
            <a:r>
              <a:rPr lang="ru-RU" sz="2000" b="1" dirty="0">
                <a:solidFill>
                  <a:schemeClr val="tx1"/>
                </a:solidFill>
              </a:rPr>
              <a:t>Обработка</a:t>
            </a: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FA6F09F9-D4F9-45CC-85CD-B0150B9A7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1" y="1325561"/>
            <a:ext cx="5162549" cy="352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D0FA6881-E472-4457-9B93-FBEB78C19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3" y="1325561"/>
            <a:ext cx="5229692" cy="352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BD226BC-5143-404F-9AA7-BD0742195F83}"/>
              </a:ext>
            </a:extLst>
          </p:cNvPr>
          <p:cNvSpPr txBox="1"/>
          <p:nvPr/>
        </p:nvSpPr>
        <p:spPr>
          <a:xfrm>
            <a:off x="1791885" y="5463095"/>
            <a:ext cx="34218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Мало экспериментальных точек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68375CB-5ED7-4F20-AA45-5231996CBD42}"/>
                  </a:ext>
                </a:extLst>
              </p:cNvPr>
              <p:cNvSpPr txBox="1"/>
              <p:nvPr/>
            </p:nvSpPr>
            <p:spPr>
              <a:xfrm>
                <a:off x="2371722" y="4845448"/>
                <a:ext cx="226218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k = 4.09</a:t>
                </a:r>
                <a:r>
                  <a:rPr lang="ru-RU" sz="2400" b="1" dirty="0"/>
                  <a:t> </a:t>
                </a:r>
                <a14:m>
                  <m:oMath xmlns:m="http://schemas.openxmlformats.org/officeDocument/2006/math"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ru-RU" sz="2400" dirty="0"/>
                  <a:t> 0.42</a:t>
                </a:r>
                <a:r>
                  <a:rPr lang="en-US" sz="2400" dirty="0"/>
                  <a:t> </a:t>
                </a:r>
                <a:r>
                  <a:rPr lang="en-US" sz="2400" b="1" dirty="0"/>
                  <a:t>?</a:t>
                </a:r>
                <a:endParaRPr lang="ru-RU" sz="2400" b="1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68375CB-5ED7-4F20-AA45-5231996CB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1722" y="4845448"/>
                <a:ext cx="2262189" cy="461665"/>
              </a:xfrm>
              <a:prstGeom prst="rect">
                <a:avLst/>
              </a:prstGeom>
              <a:blipFill>
                <a:blip r:embed="rId5"/>
                <a:stretch>
                  <a:fillRect l="-4043" t="-10526" r="-4043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88E2C0A-7B76-4E75-A03F-15849546EFA5}"/>
                  </a:ext>
                </a:extLst>
              </p:cNvPr>
              <p:cNvSpPr txBox="1"/>
              <p:nvPr/>
            </p:nvSpPr>
            <p:spPr>
              <a:xfrm>
                <a:off x="7758467" y="4845449"/>
                <a:ext cx="20952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k = 4.72</a:t>
                </a:r>
                <a:r>
                  <a:rPr lang="ru-RU" sz="2400" b="1" dirty="0"/>
                  <a:t> </a:t>
                </a:r>
                <a14:m>
                  <m:oMath xmlns:m="http://schemas.openxmlformats.org/officeDocument/2006/math"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ru-RU" sz="2400" dirty="0"/>
                  <a:t> 0.03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88E2C0A-7B76-4E75-A03F-15849546E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8467" y="4845449"/>
                <a:ext cx="2095264" cy="461665"/>
              </a:xfrm>
              <a:prstGeom prst="rect">
                <a:avLst/>
              </a:prstGeom>
              <a:blipFill>
                <a:blip r:embed="rId6"/>
                <a:stretch>
                  <a:fillRect l="-4665" t="-10526" r="-2332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7359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000CF5-EE65-4867-B2A6-79D3A6B05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dirty="0"/>
              <a:t>Зависимость энергии расщепления 4d от заряда атомного ядра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CEB500D-F3F1-4105-8717-3988CEA7B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ADF5-9450-4D4F-A358-25896FFD9952}" type="slidenum">
              <a:rPr lang="ru-RU" sz="2000" b="1" smtClean="0">
                <a:solidFill>
                  <a:schemeClr val="tx1"/>
                </a:solidFill>
              </a:rPr>
              <a:t>15</a:t>
            </a:fld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13" name="Нижний колонтитул 3">
            <a:extLst>
              <a:ext uri="{FF2B5EF4-FFF2-40B4-BE49-F238E27FC236}">
                <a16:creationId xmlns:a16="http://schemas.microsoft.com/office/drawing/2014/main" id="{B3BB8AA9-CE13-44A2-A7C8-D0F739C30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77626" y="6356350"/>
            <a:ext cx="4114800" cy="365125"/>
          </a:xfrm>
        </p:spPr>
        <p:txBody>
          <a:bodyPr/>
          <a:lstStyle/>
          <a:p>
            <a:r>
              <a:rPr lang="ru-RU" sz="2000" b="1" dirty="0">
                <a:solidFill>
                  <a:schemeClr val="tx1"/>
                </a:solidFill>
              </a:rPr>
              <a:t>Обработка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02B99D-67FB-47D0-AD6C-031AB7C57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1" y="1316036"/>
            <a:ext cx="5162549" cy="352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7663908-117C-4526-A554-6C273DD75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1" y="1325561"/>
            <a:ext cx="5229692" cy="352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71BF58A-C869-479D-9BC3-0C97F866BDC1}"/>
                  </a:ext>
                </a:extLst>
              </p:cNvPr>
              <p:cNvSpPr txBox="1"/>
              <p:nvPr/>
            </p:nvSpPr>
            <p:spPr>
              <a:xfrm>
                <a:off x="2371890" y="4835924"/>
                <a:ext cx="20951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k = 4.52</a:t>
                </a:r>
                <a:r>
                  <a:rPr lang="ru-RU" sz="2400" b="1" dirty="0"/>
                  <a:t> </a:t>
                </a:r>
                <a14:m>
                  <m:oMath xmlns:m="http://schemas.openxmlformats.org/officeDocument/2006/math"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ru-RU" sz="2400" dirty="0"/>
                  <a:t> 0.09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71BF58A-C869-479D-9BC3-0C97F866BD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1890" y="4835924"/>
                <a:ext cx="2095149" cy="461665"/>
              </a:xfrm>
              <a:prstGeom prst="rect">
                <a:avLst/>
              </a:prstGeom>
              <a:blipFill>
                <a:blip r:embed="rId5"/>
                <a:stretch>
                  <a:fillRect l="-4360" t="-10526" r="-23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58E2726-5C44-462A-A65B-EDA26DD7CD80}"/>
                  </a:ext>
                </a:extLst>
              </p:cNvPr>
              <p:cNvSpPr txBox="1"/>
              <p:nvPr/>
            </p:nvSpPr>
            <p:spPr>
              <a:xfrm>
                <a:off x="7801326" y="4837312"/>
                <a:ext cx="20951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k = 4.56</a:t>
                </a:r>
                <a:r>
                  <a:rPr lang="ru-RU" sz="2400" b="1" dirty="0"/>
                  <a:t> </a:t>
                </a:r>
                <a14:m>
                  <m:oMath xmlns:m="http://schemas.openxmlformats.org/officeDocument/2006/math"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ru-RU" sz="2400" dirty="0"/>
                  <a:t> 0.04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58E2726-5C44-462A-A65B-EDA26DD7C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1326" y="4837312"/>
                <a:ext cx="2095149" cy="461665"/>
              </a:xfrm>
              <a:prstGeom prst="rect">
                <a:avLst/>
              </a:prstGeom>
              <a:blipFill>
                <a:blip r:embed="rId6"/>
                <a:stretch>
                  <a:fillRect l="-4665" t="-10667" r="-2332" b="-30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2434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000CF5-EE65-4867-B2A6-79D3A6B05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b="1" dirty="0"/>
              <a:t>Обсуждение результатов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C1BD98-187C-47DC-BA68-47D98D630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5563"/>
            <a:ext cx="10515599" cy="4565036"/>
          </a:xfrm>
        </p:spPr>
        <p:txBody>
          <a:bodyPr>
            <a:normAutofit/>
          </a:bodyPr>
          <a:lstStyle/>
          <a:p>
            <a:pPr marL="514350" indent="-514350">
              <a:buAutoNum type="arabicParenR"/>
            </a:pPr>
            <a:r>
              <a:rPr lang="ru-RU" dirty="0"/>
              <a:t>Получена численная модель атома в приближении Томаса-Ферми.</a:t>
            </a:r>
          </a:p>
          <a:p>
            <a:pPr marL="514350" indent="-514350">
              <a:buAutoNum type="arabicParenR"/>
            </a:pPr>
            <a:r>
              <a:rPr lang="ru-RU" dirty="0"/>
              <a:t>Теория и эксперимент лучше сходятся при росте главного квантового числа </a:t>
            </a:r>
            <a:r>
              <a:rPr lang="en-US" dirty="0"/>
              <a:t>n</a:t>
            </a:r>
            <a:r>
              <a:rPr lang="ru-RU" dirty="0"/>
              <a:t>, как и предсказано теорией.</a:t>
            </a:r>
          </a:p>
          <a:p>
            <a:pPr marL="514350" indent="-514350">
              <a:buAutoNum type="arabicParenR"/>
            </a:pPr>
            <a:r>
              <a:rPr lang="ru-RU" dirty="0"/>
              <a:t>В погрешности не были включены релятивистские поправки, описанные в </a:t>
            </a:r>
            <a:r>
              <a:rPr lang="en-US" dirty="0"/>
              <a:t>[4] </a:t>
            </a:r>
            <a:r>
              <a:rPr lang="ru-RU" dirty="0"/>
              <a:t>, а также исключенный член в гамильтониане. Учет этих поправок в будущем может повысить точность модели</a:t>
            </a:r>
          </a:p>
          <a:p>
            <a:pPr marL="514350" indent="-514350">
              <a:buAutoNum type="arabicParenR"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CEB500D-F3F1-4105-8717-3988CEA7B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ADF5-9450-4D4F-A358-25896FFD9952}" type="slidenum">
              <a:rPr lang="ru-RU" sz="2000" b="1" smtClean="0">
                <a:solidFill>
                  <a:schemeClr val="tx1"/>
                </a:solidFill>
              </a:rPr>
              <a:t>16</a:t>
            </a:fld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10" name="Нижний колонтитул 3">
            <a:extLst>
              <a:ext uri="{FF2B5EF4-FFF2-40B4-BE49-F238E27FC236}">
                <a16:creationId xmlns:a16="http://schemas.microsoft.com/office/drawing/2014/main" id="{A8B7C275-A070-41D0-93E0-D6718E67F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ru-RU" sz="2000" b="1" dirty="0">
                <a:solidFill>
                  <a:schemeClr val="tx1"/>
                </a:solidFill>
              </a:rPr>
              <a:t>Результаты</a:t>
            </a:r>
          </a:p>
        </p:txBody>
      </p:sp>
    </p:spTree>
    <p:extLst>
      <p:ext uri="{BB962C8B-B14F-4D97-AF65-F5344CB8AC3E}">
        <p14:creationId xmlns:p14="http://schemas.microsoft.com/office/powerpoint/2010/main" val="1743329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000CF5-EE65-4867-B2A6-79D3A6B05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b="1" dirty="0"/>
              <a:t>Список литературы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C1BD98-187C-47DC-BA68-47D98D630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5563"/>
            <a:ext cx="10515599" cy="4565036"/>
          </a:xfrm>
        </p:spPr>
        <p:txBody>
          <a:bodyPr>
            <a:normAutofit/>
          </a:bodyPr>
          <a:lstStyle/>
          <a:p>
            <a:pPr marL="514350" indent="-514350">
              <a:buAutoNum type="arabicParenR"/>
            </a:pPr>
            <a:r>
              <a:rPr lang="ru-RU" dirty="0"/>
              <a:t>Ландау-Лифшиц , том 3</a:t>
            </a:r>
          </a:p>
          <a:p>
            <a:pPr marL="514350" indent="-514350">
              <a:buAutoNum type="arabicParenR"/>
            </a:pPr>
            <a:r>
              <a:rPr lang="ru-RU" dirty="0"/>
              <a:t>Зоммерфельд, Строение атома, том 1</a:t>
            </a:r>
          </a:p>
          <a:p>
            <a:pPr marL="514350" indent="-514350">
              <a:buAutoNum type="arabicParenR"/>
            </a:pPr>
            <a:r>
              <a:rPr lang="ru-RU" dirty="0"/>
              <a:t>Белоусов, Квантовая механика - Нерелятивистская теория</a:t>
            </a:r>
          </a:p>
          <a:p>
            <a:pPr marL="514350" indent="-514350">
              <a:buAutoNum type="arabicParenR"/>
            </a:pPr>
            <a:r>
              <a:rPr lang="en-US" dirty="0"/>
              <a:t>The Self-Consistent Field Equations in an Atom</a:t>
            </a:r>
            <a:r>
              <a:rPr lang="ru-RU" dirty="0"/>
              <a:t>, </a:t>
            </a:r>
            <a:r>
              <a:rPr lang="en-US" dirty="0"/>
              <a:t>A. S. KOMPANEETS AND E. S. PAVLOVSKII</a:t>
            </a:r>
          </a:p>
          <a:p>
            <a:pPr marL="514350" indent="-514350">
              <a:buAutoNum type="arabicParenR"/>
            </a:pPr>
            <a:r>
              <a:rPr lang="en-US" dirty="0"/>
              <a:t>CALCULATION OF THE ATOMIC STATES ENERGIES IN THE THOMAS - FERMI APPROXIMATION, S. N. </a:t>
            </a:r>
            <a:r>
              <a:rPr lang="en-US" dirty="0" err="1"/>
              <a:t>Fedotkin</a:t>
            </a:r>
            <a:endParaRPr lang="ru-RU" dirty="0"/>
          </a:p>
          <a:p>
            <a:pPr marL="514350" indent="-514350">
              <a:buAutoNum type="arabicParenR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CEB500D-F3F1-4105-8717-3988CEA7B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4ADF5-9450-4D4F-A358-25896FFD9952}" type="slidenum">
              <a:rPr lang="ru-RU" sz="2000" b="1" smtClean="0">
                <a:solidFill>
                  <a:schemeClr val="tx1"/>
                </a:solidFill>
              </a:rPr>
              <a:t>17</a:t>
            </a:fld>
            <a:endParaRPr lang="ru-RU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004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5A4396-A1BB-403E-B1C2-4B4E9254E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Спасибо за внимание!</a:t>
            </a:r>
          </a:p>
        </p:txBody>
      </p:sp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29EBD661-6B64-4680-9E77-FAB10ACC6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158" y="1690688"/>
            <a:ext cx="7427683" cy="3899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62975F1-6D01-455C-A1C6-A08B9C9886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10" t="12777" r="15401" b="5325"/>
          <a:stretch/>
        </p:blipFill>
        <p:spPr bwMode="auto">
          <a:xfrm>
            <a:off x="10251845" y="1476375"/>
            <a:ext cx="942442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20ABC9BE-BC72-400A-9841-27B4E86C2C55}"/>
              </a:ext>
            </a:extLst>
          </p:cNvPr>
          <p:cNvCxnSpPr>
            <a:cxnSpLocks/>
          </p:cNvCxnSpPr>
          <p:nvPr/>
        </p:nvCxnSpPr>
        <p:spPr>
          <a:xfrm flipH="1">
            <a:off x="6743700" y="2212181"/>
            <a:ext cx="3200400" cy="71508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0608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5335</TotalTime>
  <Words>707</Words>
  <Application>Microsoft Office PowerPoint</Application>
  <PresentationFormat>Широкоэкранный</PresentationFormat>
  <Paragraphs>151</Paragraphs>
  <Slides>18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YS Text</vt:lpstr>
      <vt:lpstr>Тема Office</vt:lpstr>
      <vt:lpstr>  </vt:lpstr>
      <vt:lpstr>Тонкая структура</vt:lpstr>
      <vt:lpstr>Атомная модель Томаса-Ферми</vt:lpstr>
      <vt:lpstr>Решение уравнения Томаса-Ферми</vt:lpstr>
      <vt:lpstr>Гамильтониан частицы в электромагнитном поле</vt:lpstr>
      <vt:lpstr>Численное квантование полученного гамильтониана</vt:lpstr>
      <vt:lpstr>Численно рассчитанные радиальные волновые функции f(r)</vt:lpstr>
      <vt:lpstr>Примечание: атом водорода</vt:lpstr>
      <vt:lpstr>Экспериментальная установка</vt:lpstr>
      <vt:lpstr>Характеристический рентгеновский спектр</vt:lpstr>
      <vt:lpstr>Зависимость энергии расщепления 2p от заряда атомного ядра</vt:lpstr>
      <vt:lpstr>Зависимость энергии расщепления 3p от заряда атомного ядра</vt:lpstr>
      <vt:lpstr>Зависимость энергии расщепления 3d от заряда атомного ядра</vt:lpstr>
      <vt:lpstr>Зависимость энергии расщепления 4p от заряда атомного ядра</vt:lpstr>
      <vt:lpstr>Зависимость энергии расщепления 4d от заряда атомного ядра</vt:lpstr>
      <vt:lpstr>Обсуждение результатов</vt:lpstr>
      <vt:lpstr>Список литературы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</dc:title>
  <dc:creator>Kawus</dc:creator>
  <cp:lastModifiedBy>Тимур Вострокнутов</cp:lastModifiedBy>
  <cp:revision>409</cp:revision>
  <dcterms:created xsi:type="dcterms:W3CDTF">2024-04-26T12:48:34Z</dcterms:created>
  <dcterms:modified xsi:type="dcterms:W3CDTF">2025-01-22T23:32:33Z</dcterms:modified>
</cp:coreProperties>
</file>